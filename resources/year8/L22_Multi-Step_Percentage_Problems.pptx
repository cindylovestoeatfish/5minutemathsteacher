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RETRIEVAL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Answer on paper or mini-whiteboards. No calculators.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508760"/>
            <a:ext cx="31391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1.  Ratio 1:4, % of first quantity?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965960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20%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2.  A ratio of red:blue counters is 1:4. If there are 60 counters, how many are red?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679192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4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3.  Increase £120 by 15% using a multiplier.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392424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£138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05656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4.  New price £110 after a 10% increase. Find the original price.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105656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£100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7863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5.  £1,000 at 5% compound interest for 3 years.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818888"/>
            <a:ext cx="31391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95959"/>
                </a:solidFill>
                <a:latin typeface="Arial"/>
              </a:rPr>
              <a:t>£1,157.63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WEEK 6 · LESSON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Date: _______________________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0000"/>
                </a:solidFill>
                <a:latin typeface="Arial"/>
              </a:rPr>
              <a:t>Multi-Step Percentage Problems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Arial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6949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Solve problems involving successive percentage changes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Apply percentages in layered real-life contexts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-  Justify the order and choice of method 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788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Arial"/>
              </a:rPr>
              <a:t>Key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29184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Successive percentage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75878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Multi-step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22572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Compound situation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69266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Justify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5159600"/>
            <a:ext cx="3291840" cy="438912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Layered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Layer by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Many real situations apply more than one percentage change, one after another.</a:t>
            </a:r>
          </a:p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Each change must be applied to the RESULT of the previous step, not the original amount.</a:t>
            </a:r>
          </a:p>
          <a:p>
            <a:pPr algn="l">
              <a:spcAft>
                <a:spcPts val="1400"/>
              </a:spcAft>
            </a:pPr>
            <a:r>
              <a:rPr sz="2200" b="0">
                <a:solidFill>
                  <a:srgbClr val="000000"/>
                </a:solidFill>
                <a:latin typeface="Arial"/>
              </a:rPr>
              <a:t>The order of successive percentage changes usually matters — swapping the order can change the answer.</a:t>
            </a:r>
          </a:p>
          <a:p>
            <a:pPr algn="l">
              <a:spcAft>
                <a:spcPts val="1400"/>
              </a:spcAft>
            </a:pPr>
            <a:r>
              <a:rPr sz="2200" b="1">
                <a:solidFill>
                  <a:srgbClr val="000000"/>
                </a:solidFill>
                <a:latin typeface="Arial"/>
              </a:rPr>
              <a:t>Think, pair, share: A coat is reduced by 25%, then a further 10% off. Is this the same as one 35% discount? Why or why not?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MODELLING: I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I Do — Teacher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A coat costs £80. It is reduced by 25% in a sale, then a loyalty card gives a further 10% off. Find the final price and the overall percentage discount.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4440"/>
            <a:ext cx="11277295" cy="343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After 25% off: 80 × 0.75 = 60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After a further 10% off: 60 × 0.9 = 54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Overall discount = 80 − 54 = 26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Overall percentage discount = (26 ÷ 80) × 100 = 32.5%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MODELLING: WE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We Do — Guided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Arial"/>
              </a:rPr>
              <a:t>A house valued at £200,000 increases in value by 8% in year 1 and 5% in year 2. Find its value after 2 years.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2960"/>
            <a:ext cx="11277295" cy="3843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After year 1: 200,000 × 1.08 = 216,000</a:t>
            </a:r>
          </a:p>
          <a:p>
            <a:pPr algn="l">
              <a:spcAft>
                <a:spcPts val="1400"/>
              </a:spcAft>
            </a:pPr>
            <a:r>
              <a:rPr sz="2100" b="0">
                <a:solidFill>
                  <a:srgbClr val="000000"/>
                </a:solidFill>
                <a:latin typeface="Arial"/>
              </a:rPr>
              <a:t>-  After year 2: 216,000 × 1.05 = £226,800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INDEPENDENT PRACTICE: YOU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You Do — Your 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Answers shown in green.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50000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29263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A £60 item has 20% off, then a further 5% off. Find the final price.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26216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£45.60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6486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5749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A £30,000 salary rises 4%, then 3%. Find the new salary.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9270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£32,136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82972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62235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A £150 price rises 10%, then falls 10%. Find the final price.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59188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£148.50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49458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Q4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28721"/>
            <a:ext cx="11277295" cy="308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A £5,000 investment grows 6% for 2 years, compound. Find its value.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025674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£5,618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Extension: finish early? Move on to the Challenge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/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0000"/>
                </a:solidFill>
                <a:latin typeface="Arial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Arial"/>
              </a:rPr>
              <a:t>For students who are ready to go further. Answers shown in green.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50000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30000"/>
            <a:ext cx="11277295" cy="651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Arial"/>
              </a:rPr>
              <a:t>A £250 item rises by 20%, then falls by 20%. Explain why the final price is not £250, and find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51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£240 — the second 20% is calculated on a larger amount, so decreases more overall than the increase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65830"/>
            <a:ext cx="11277295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Challenge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5830"/>
            <a:ext cx="11277295" cy="651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Arial"/>
              </a:rPr>
              <a:t>A phone was £400. It is reduced by 15%, then VAT of 20% is added, then a £20 loyalty discount is applied. Find the final price.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8734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6B3D"/>
                </a:solidFill>
                <a:latin typeface="Arial"/>
              </a:rPr>
              <a:t>Answer: £388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95959"/>
                </a:solidFill>
                <a:latin typeface="Arial"/>
              </a:rPr>
              <a:t>PLENARY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19695" y="256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95959"/>
                </a:solidFill>
                <a:latin typeface="Arial"/>
              </a:rPr>
              <a:t>L22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Arial"/>
              </a:rPr>
              <a:t>Layered Percentages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00000"/>
            <a:ext cx="1127729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  <a:latin typeface="Arial"/>
              </a:rPr>
              <a:t>Read each two-step question. Students apply each change in order and check units carefully.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50000"/>
            <a:ext cx="2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95959"/>
                </a:solidFill>
                <a:latin typeface="Arial"/>
              </a:rPr>
              <a:t>Grid numbers: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5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45.6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0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32136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148.5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7200" y="1750000"/>
            <a:ext cx="9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5618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5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1. £100, +10% then +10%?   </a:t>
            </a:r>
            <a:r>
              <a:rPr sz="1500" b="1">
                <a:solidFill>
                  <a:srgbClr val="2B6B3D"/>
                </a:solidFill>
                <a:latin typeface="Arial"/>
              </a:rPr>
              <a:t>£121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8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2. £200, −10% then −10%?   </a:t>
            </a:r>
            <a:r>
              <a:rPr sz="1500" b="1">
                <a:solidFill>
                  <a:srgbClr val="2B6B3D"/>
                </a:solidFill>
                <a:latin typeface="Arial"/>
              </a:rPr>
              <a:t>£162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1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3. £80, +25% then −20%?   </a:t>
            </a:r>
            <a:r>
              <a:rPr sz="1500" b="1">
                <a:solidFill>
                  <a:srgbClr val="2B6B3D"/>
                </a:solidFill>
                <a:latin typeface="Arial"/>
              </a:rPr>
              <a:t>£80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4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4. £500, −20% then +25%?   </a:t>
            </a:r>
            <a:r>
              <a:rPr sz="1500" b="1">
                <a:solidFill>
                  <a:srgbClr val="2B6B3D"/>
                </a:solidFill>
                <a:latin typeface="Arial"/>
              </a:rPr>
              <a:t>£500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4495" y="215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5. £90, +50% then −50%?   </a:t>
            </a:r>
            <a:r>
              <a:rPr sz="1500" b="1">
                <a:solidFill>
                  <a:srgbClr val="2B6B3D"/>
                </a:solidFill>
                <a:latin typeface="Arial"/>
              </a:rPr>
              <a:t>£67.50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4495" y="248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6. £40, −25% then +25%?   </a:t>
            </a:r>
            <a:r>
              <a:rPr sz="1500" b="1">
                <a:solidFill>
                  <a:srgbClr val="2B6B3D"/>
                </a:solidFill>
                <a:latin typeface="Arial"/>
              </a:rPr>
              <a:t>£37.50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4495" y="281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7. £600, +5% then +5%?   </a:t>
            </a:r>
            <a:r>
              <a:rPr sz="1500" b="1">
                <a:solidFill>
                  <a:srgbClr val="2B6B3D"/>
                </a:solidFill>
                <a:latin typeface="Arial"/>
              </a:rPr>
              <a:t>£661.50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4495" y="3140000"/>
            <a:ext cx="545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Arial"/>
              </a:rPr>
              <a:t>8. £250, −10% then −10%?   </a:t>
            </a:r>
            <a:r>
              <a:rPr sz="1500" b="1">
                <a:solidFill>
                  <a:srgbClr val="2B6B3D"/>
                </a:solidFill>
                <a:latin typeface="Arial"/>
              </a:rPr>
              <a:t>£202.50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620000"/>
            <a:ext cx="11277295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Arial"/>
              </a:rPr>
              <a:t>Exit check: A £120 jacket is reduced by 15%, then a further 5% loyalty discount is applied. Find the final price.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Arial"/>
              </a:rPr>
              <a:t>Y8 Percentages and Proportionality — Middle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