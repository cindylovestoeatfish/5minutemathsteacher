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RETRIEVAL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Retrieval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1">
                <a:solidFill>
                  <a:srgbClr val="595959"/>
                </a:solidFill>
                <a:latin typeface="Arial"/>
              </a:rPr>
              <a:t>Answer on paper or mini-whiteboards. No calculators.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1508760"/>
            <a:ext cx="31391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595959"/>
                </a:solidFill>
                <a:latin typeface="Arial"/>
              </a:rPr>
              <a:t>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1.  8 x 7 =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1965960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56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79192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2.  -6 - 4 =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2679192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-10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92424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3.  12 - 3 x 2 =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3392424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105656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4.  Sequence 4, 8, 12, 16 — what is the rule?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4105656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+4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818888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5.  If the rule is +4, what comes after 25?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4818888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29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WEEK 1 · LESSON 2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95959"/>
                </a:solidFill>
                <a:latin typeface="Arial"/>
              </a:rPr>
              <a:t>Date: _______________________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4000" b="1" i="0">
                <a:solidFill>
                  <a:srgbClr val="000000"/>
                </a:solidFill>
                <a:latin typeface="Arial"/>
              </a:rPr>
              <a:t>Descending Sequences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88920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Arial"/>
              </a:rPr>
              <a:t>Learning 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46120"/>
            <a:ext cx="69494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I can find the term-to-term rule of a descending sequence.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I can continue sequences that decrease, including into negative numbers.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78892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Arial"/>
              </a:rPr>
              <a:t>Key Words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3291840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Descending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3858768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Decreasing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4425696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Negative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4992624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Term-to-term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Running 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11277295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A water tank holds 100 litres and drains at 8 litres per minute: 100, 92, 84, 76 ...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This sequence goes down each time — it is descending.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297680"/>
            <a:ext cx="11277295" cy="13716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/>
            <a:r>
              <a:rPr sz="2200" b="1" i="0">
                <a:solidFill>
                  <a:srgbClr val="000000"/>
                </a:solidFill>
                <a:latin typeface="Arial"/>
              </a:rPr>
              <a:t>Think, pair, share: When do you think the tank will be empty? How could we check?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MODELLING: I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I Do — Teacher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Find the next two terms: 30, 24, 18, 12, 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11277295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Step 1: Find the difference. 24 - 30 = -6, so the rule is -6.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Step 2: 12 - 6 = 6.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Step 3: 6 - 6 = 0.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Answer: 6, 0.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MODELLING: WE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We Do — Guided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Find the next two terms: 50, 42, 34, 26, 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11277295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Step 1: 42 - 50 = ___. Rule = ___.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Step 2: 26 - 8 = ___.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Step 3: ___ - 8 = ___.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Answer: 18, 10.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INDEPENDENT PRACTICE: YOU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You Do — Your Turn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1">
                <a:solidFill>
                  <a:srgbClr val="595959"/>
                </a:solidFill>
                <a:latin typeface="Arial"/>
              </a:rPr>
              <a:t>Question 1 is scaffolded to get you started.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91440"/>
          <a:lstStyle/>
          <a:p>
            <a:pPr algn="ctr"/>
            <a:r>
              <a:rPr sz="1600" b="1" i="0">
                <a:solidFill>
                  <a:srgbClr val="595959"/>
                </a:solidFill>
                <a:latin typeface="Arial"/>
              </a:rPr>
              <a:t>Q1  (scaffold)</a:t>
            </a:r>
          </a:p>
          <a:p>
            <a:pPr>
              <a:spcBef>
                <a:spcPts val="400"/>
              </a:spcBef>
            </a:pPr>
            <a:r>
              <a:rPr sz="2000" b="1" i="0">
                <a:solidFill>
                  <a:srgbClr val="000000"/>
                </a:solidFill>
                <a:latin typeface="Arial"/>
              </a:rPr>
              <a:t>40, 35, 30, 25, ... Find the rule and next 2 terms.</a:t>
            </a:r>
          </a:p>
          <a:p>
            <a:pPr>
              <a:spcBef>
                <a:spcPts val="600"/>
              </a:spcBef>
            </a:pPr>
            <a:r>
              <a:rPr sz="1600" b="0" i="1">
                <a:solidFill>
                  <a:srgbClr val="595959"/>
                </a:solidFill>
                <a:latin typeface="Arial"/>
              </a:rPr>
              <a:t>Rule = ____.  25 + rule = ____.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8727" y="1874519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91440"/>
          <a:lstStyle/>
          <a:p>
            <a:pPr algn="ctr"/>
            <a:r>
              <a:rPr sz="1600" b="1" i="0">
                <a:solidFill>
                  <a:srgbClr val="595959"/>
                </a:solidFill>
                <a:latin typeface="Arial"/>
              </a:rPr>
              <a:t>Q2</a:t>
            </a:r>
          </a:p>
          <a:p>
            <a:pPr>
              <a:spcBef>
                <a:spcPts val="400"/>
              </a:spcBef>
            </a:pPr>
            <a:r>
              <a:rPr sz="2000" b="1" i="0">
                <a:solidFill>
                  <a:srgbClr val="000000"/>
                </a:solidFill>
                <a:latin typeface="Arial"/>
              </a:rPr>
              <a:t>60, 52, 44, 36, ... Find the rule and next 2 terms.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160520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91440"/>
          <a:lstStyle/>
          <a:p>
            <a:pPr algn="ctr"/>
            <a:r>
              <a:rPr sz="1600" b="1" i="0">
                <a:solidFill>
                  <a:srgbClr val="595959"/>
                </a:solidFill>
                <a:latin typeface="Arial"/>
              </a:rPr>
              <a:t>Q3</a:t>
            </a:r>
          </a:p>
          <a:p>
            <a:pPr>
              <a:spcBef>
                <a:spcPts val="400"/>
              </a:spcBef>
            </a:pPr>
            <a:r>
              <a:rPr sz="2000" b="1" i="0">
                <a:solidFill>
                  <a:srgbClr val="000000"/>
                </a:solidFill>
                <a:latin typeface="Arial"/>
              </a:rPr>
              <a:t>15, 11, 7, 3, ... Find the rule and next 2 terms (careful — they go negative).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4160520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91440"/>
          <a:lstStyle/>
          <a:p>
            <a:pPr algn="ctr"/>
            <a:r>
              <a:rPr sz="1600" b="1" i="0">
                <a:solidFill>
                  <a:srgbClr val="595959"/>
                </a:solidFill>
                <a:latin typeface="Arial"/>
              </a:rPr>
              <a:t>Q4</a:t>
            </a:r>
          </a:p>
          <a:p>
            <a:pPr>
              <a:spcBef>
                <a:spcPts val="400"/>
              </a:spcBef>
            </a:pPr>
            <a:r>
              <a:rPr sz="2000" b="1" i="0">
                <a:solidFill>
                  <a:srgbClr val="000000"/>
                </a:solidFill>
                <a:latin typeface="Arial"/>
              </a:rPr>
              <a:t>8, 3, -2, -7, ... Find the rule and next 2 terms.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Extension: finish early? Move on to the Challenge slide.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CHALLENGE / EXTENSION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1">
                <a:solidFill>
                  <a:srgbClr val="595959"/>
                </a:solidFill>
                <a:latin typeface="Arial"/>
              </a:rPr>
              <a:t>For students who are ready to go further.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65960"/>
            <a:ext cx="11277295" cy="192024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46304" bIns="91440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Challenge 1</a:t>
            </a:r>
          </a:p>
          <a:p>
            <a:pPr>
              <a:spcBef>
                <a:spcPts val="400"/>
              </a:spcBef>
            </a:pPr>
            <a:r>
              <a:rPr sz="2200" b="0" i="0">
                <a:solidFill>
                  <a:srgbClr val="000000"/>
                </a:solidFill>
                <a:latin typeface="Arial"/>
              </a:rPr>
              <a:t>A sequence starts at 45 with rule “-7”. Which term is the first to become negative?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114800"/>
            <a:ext cx="11277295" cy="192024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46304" bIns="91440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Challenge 2</a:t>
            </a:r>
          </a:p>
          <a:p>
            <a:pPr>
              <a:spcBef>
                <a:spcPts val="400"/>
              </a:spcBef>
            </a:pPr>
            <a:r>
              <a:rPr sz="2200" b="0" i="0">
                <a:solidFill>
                  <a:srgbClr val="000000"/>
                </a:solidFill>
                <a:latin typeface="Arial"/>
              </a:rPr>
              <a:t>Sequence A starts at 50 with rule -4. Sequence B starts at 2 with rule +4. After how many terms are A and B equal?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PLENARY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Countdown 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11277295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Work in pairs. The teacher gives a start number and a negative rule.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Race to find the 10th term on your whiteboard — first correct pair wins the round.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Bonus round: which team can say when the sequence first goes negative?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937760"/>
            <a:ext cx="11277295" cy="109728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  <a:r>
              <a:rPr sz="2200" b="1" i="0">
                <a:solidFill>
                  <a:srgbClr val="000000"/>
                </a:solidFill>
                <a:latin typeface="Arial"/>
              </a:rPr>
              <a:t>Exit check: Thumbs up if a sequence with rule -3 will eventually go negative. Thumbs down if not. Explain your thinking to a partner.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