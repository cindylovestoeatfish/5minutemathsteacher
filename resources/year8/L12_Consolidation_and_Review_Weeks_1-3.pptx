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</p:sldIdLst>
  <p:sldSz cx="12192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56032"/>
            <a:ext cx="7315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 i="0">
                <a:solidFill>
                  <a:srgbClr val="595959"/>
                </a:solidFill>
                <a:latin typeface="Arial"/>
              </a:rPr>
              <a:t>RETRIEVAL PRACTICE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619695" y="256032"/>
            <a:ext cx="4114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300" b="0" i="0">
                <a:solidFill>
                  <a:srgbClr val="595959"/>
                </a:solidFill>
                <a:latin typeface="Arial"/>
              </a:rPr>
              <a:t>L12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777240"/>
            <a:ext cx="11277295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400" b="1" i="0">
                <a:solidFill>
                  <a:srgbClr val="000000"/>
                </a:solidFill>
                <a:latin typeface="Arial"/>
              </a:rPr>
              <a:t>Retrieval Practice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417320"/>
            <a:ext cx="11277295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0" i="0">
                <a:solidFill>
                  <a:srgbClr val="595959"/>
                </a:solidFill>
                <a:latin typeface="Arial"/>
              </a:rPr>
              <a:t>Answer on paper or mini-whiteboards. No calculators.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595360" y="1508760"/>
            <a:ext cx="3139135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 i="0">
                <a:solidFill>
                  <a:srgbClr val="595959"/>
                </a:solidFill>
                <a:latin typeface="Arial"/>
              </a:rPr>
              <a:t>Answers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1965960"/>
            <a:ext cx="7863840" cy="7132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0" i="0">
                <a:solidFill>
                  <a:srgbClr val="000000"/>
                </a:solidFill>
                <a:latin typeface="Arial"/>
              </a:rPr>
              <a:t>1.  Find 65% of £140.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595360" y="1965960"/>
            <a:ext cx="3139135" cy="7132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0" i="0">
                <a:solidFill>
                  <a:srgbClr val="595959"/>
                </a:solidFill>
                <a:latin typeface="Arial"/>
              </a:rPr>
              <a:t>£91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2679192"/>
            <a:ext cx="7863840" cy="7132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0" i="0">
                <a:solidFill>
                  <a:srgbClr val="000000"/>
                </a:solidFill>
                <a:latin typeface="Arial"/>
              </a:rPr>
              <a:t>2.  New price £108 after an 8% increase. Find the original price.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595360" y="2679192"/>
            <a:ext cx="3139135" cy="7132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0" i="0">
                <a:solidFill>
                  <a:srgbClr val="595959"/>
                </a:solidFill>
                <a:latin typeface="Arial"/>
              </a:rPr>
              <a:t>£100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57200" y="3392424"/>
            <a:ext cx="7863840" cy="7132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0" i="0">
                <a:solidFill>
                  <a:srgbClr val="000000"/>
                </a:solidFill>
                <a:latin typeface="Arial"/>
              </a:rPr>
              <a:t>3.  A price rises from £64 to £72. Find the percentage increase.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595360" y="3392424"/>
            <a:ext cx="3139135" cy="7132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0" i="0">
                <a:solidFill>
                  <a:srgbClr val="595959"/>
                </a:solidFill>
                <a:latin typeface="Arial"/>
              </a:rPr>
              <a:t>12.5%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57200" y="4105656"/>
            <a:ext cx="7863840" cy="7132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0" i="0">
                <a:solidFill>
                  <a:srgbClr val="000000"/>
                </a:solidFill>
                <a:latin typeface="Arial"/>
              </a:rPr>
              <a:t>4.  £500 at 4% simple interest for 3 years. Find the total.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595360" y="4105656"/>
            <a:ext cx="3139135" cy="7132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0" i="0">
                <a:solidFill>
                  <a:srgbClr val="595959"/>
                </a:solidFill>
                <a:latin typeface="Arial"/>
              </a:rPr>
              <a:t>£560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57200" y="4818888"/>
            <a:ext cx="7863840" cy="7132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0" i="0">
                <a:solidFill>
                  <a:srgbClr val="000000"/>
                </a:solidFill>
                <a:latin typeface="Arial"/>
              </a:rPr>
              <a:t>5.  £400 at 10% compound interest for 2 years.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595360" y="4818888"/>
            <a:ext cx="3139135" cy="7132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0" i="0">
                <a:solidFill>
                  <a:srgbClr val="595959"/>
                </a:solidFill>
                <a:latin typeface="Arial"/>
              </a:rPr>
              <a:t>£484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57200" y="6446520"/>
            <a:ext cx="11277295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595959"/>
                </a:solidFill>
                <a:latin typeface="Arial"/>
              </a:rPr>
              <a:t>Y8 Percentages and Proportionality — Middle Set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56032"/>
            <a:ext cx="7315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 i="0">
                <a:solidFill>
                  <a:srgbClr val="595959"/>
                </a:solidFill>
                <a:latin typeface="Arial"/>
              </a:rPr>
              <a:t>WEEK 3 · LESSON 4 OF 4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619695" y="256032"/>
            <a:ext cx="4114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300" b="0" i="0">
                <a:solidFill>
                  <a:srgbClr val="595959"/>
                </a:solidFill>
                <a:latin typeface="Arial"/>
              </a:rPr>
              <a:t>L12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868680"/>
            <a:ext cx="7772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0" i="0">
                <a:solidFill>
                  <a:srgbClr val="595959"/>
                </a:solidFill>
                <a:latin typeface="Arial"/>
              </a:rPr>
              <a:t>Date: _______________________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417320"/>
            <a:ext cx="11277295" cy="1188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800" b="1" i="0">
                <a:solidFill>
                  <a:srgbClr val="000000"/>
                </a:solidFill>
                <a:latin typeface="Arial"/>
              </a:rPr>
              <a:t>Consolidation and Review (Weeks 1–3)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2788920"/>
            <a:ext cx="69494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1" i="0">
                <a:solidFill>
                  <a:srgbClr val="000000"/>
                </a:solidFill>
                <a:latin typeface="Arial"/>
              </a:rPr>
              <a:t>Learning Objectives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3246120"/>
            <a:ext cx="6949440" cy="1645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800"/>
              </a:spcAft>
            </a:pPr>
            <a:r>
              <a:rPr sz="2200" b="0">
                <a:solidFill>
                  <a:srgbClr val="000000"/>
                </a:solidFill>
                <a:latin typeface="Arial"/>
              </a:rPr>
              <a:t>-  Apply percentage skills to varied real-life contexts</a:t>
            </a:r>
          </a:p>
          <a:p>
            <a:pPr algn="l">
              <a:spcAft>
                <a:spcPts val="800"/>
              </a:spcAft>
            </a:pPr>
            <a:r>
              <a:rPr sz="2200" b="0">
                <a:solidFill>
                  <a:srgbClr val="000000"/>
                </a:solidFill>
                <a:latin typeface="Arial"/>
              </a:rPr>
              <a:t>-  Choose the correct method: direct %, multiplier, reverse, or interest</a:t>
            </a:r>
          </a:p>
          <a:p>
            <a:pPr algn="l">
              <a:spcAft>
                <a:spcPts val="800"/>
              </a:spcAft>
            </a:pPr>
            <a:r>
              <a:rPr sz="2200" b="0">
                <a:solidFill>
                  <a:srgbClr val="000000"/>
                </a:solidFill>
                <a:latin typeface="Arial"/>
              </a:rPr>
              <a:t>-  Communicate mathematical reasoning clearly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229600" y="2788920"/>
            <a:ext cx="34747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1" i="0">
                <a:solidFill>
                  <a:srgbClr val="000000"/>
                </a:solidFill>
                <a:latin typeface="Arial"/>
              </a:rPr>
              <a:t>Key Words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8229600" y="3291840"/>
            <a:ext cx="3291840" cy="438912"/>
          </a:xfrm>
          <a:prstGeom prst="roundRect">
            <a:avLst/>
          </a:prstGeom>
          <a:solidFill>
            <a:srgbClr val="F2F2F2"/>
          </a:solidFill>
          <a:ln w="9525"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500" b="1">
                <a:solidFill>
                  <a:srgbClr val="000000"/>
                </a:solidFill>
                <a:latin typeface="Arial"/>
              </a:rPr>
              <a:t>Real-life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8229600" y="3758780"/>
            <a:ext cx="3291840" cy="438912"/>
          </a:xfrm>
          <a:prstGeom prst="roundRect">
            <a:avLst/>
          </a:prstGeom>
          <a:solidFill>
            <a:srgbClr val="F2F2F2"/>
          </a:solidFill>
          <a:ln w="9525"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500" b="1">
                <a:solidFill>
                  <a:srgbClr val="000000"/>
                </a:solidFill>
                <a:latin typeface="Arial"/>
              </a:rPr>
              <a:t>VAT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229600" y="4225720"/>
            <a:ext cx="3291840" cy="438912"/>
          </a:xfrm>
          <a:prstGeom prst="roundRect">
            <a:avLst/>
          </a:prstGeom>
          <a:solidFill>
            <a:srgbClr val="F2F2F2"/>
          </a:solidFill>
          <a:ln w="9525"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500" b="1">
                <a:solidFill>
                  <a:srgbClr val="000000"/>
                </a:solidFill>
                <a:latin typeface="Arial"/>
              </a:rPr>
              <a:t>Discount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8229600" y="4692660"/>
            <a:ext cx="3291840" cy="438912"/>
          </a:xfrm>
          <a:prstGeom prst="roundRect">
            <a:avLst/>
          </a:prstGeom>
          <a:solidFill>
            <a:srgbClr val="F2F2F2"/>
          </a:solidFill>
          <a:ln w="9525"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500" b="1">
                <a:solidFill>
                  <a:srgbClr val="000000"/>
                </a:solidFill>
                <a:latin typeface="Arial"/>
              </a:rPr>
              <a:t>Wage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8229600" y="5159600"/>
            <a:ext cx="3291840" cy="438912"/>
          </a:xfrm>
          <a:prstGeom prst="roundRect">
            <a:avLst/>
          </a:prstGeom>
          <a:solidFill>
            <a:srgbClr val="F2F2F2"/>
          </a:solidFill>
          <a:ln w="9525"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500" b="1">
                <a:solidFill>
                  <a:srgbClr val="000000"/>
                </a:solidFill>
                <a:latin typeface="Arial"/>
              </a:rPr>
              <a:t>Interest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57200" y="6446520"/>
            <a:ext cx="11277295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595959"/>
                </a:solidFill>
                <a:latin typeface="Arial"/>
              </a:rPr>
              <a:t>Y8 Percentages and Proportionality — Middle Set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56032"/>
            <a:ext cx="7315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 i="0">
                <a:solidFill>
                  <a:srgbClr val="595959"/>
                </a:solidFill>
                <a:latin typeface="Arial"/>
              </a:rPr>
              <a:t>CONTEXT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619695" y="256032"/>
            <a:ext cx="4114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300" b="0" i="0">
                <a:solidFill>
                  <a:srgbClr val="595959"/>
                </a:solidFill>
                <a:latin typeface="Arial"/>
              </a:rPr>
              <a:t>L12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777240"/>
            <a:ext cx="11277295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400" b="1" i="0">
                <a:solidFill>
                  <a:srgbClr val="000000"/>
                </a:solidFill>
                <a:latin typeface="Arial"/>
              </a:rPr>
              <a:t>Percentages in Real Life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600000"/>
            <a:ext cx="11277295" cy="36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1400"/>
              </a:spcAft>
            </a:pPr>
            <a:r>
              <a:rPr sz="2200" b="0">
                <a:solidFill>
                  <a:srgbClr val="000000"/>
                </a:solidFill>
                <a:latin typeface="Arial"/>
              </a:rPr>
              <a:t>Real-life percentage problems rarely tell you which method to use — you have to decide.</a:t>
            </a:r>
          </a:p>
          <a:p>
            <a:pPr algn="l">
              <a:spcAft>
                <a:spcPts val="1400"/>
              </a:spcAft>
            </a:pPr>
            <a:r>
              <a:rPr sz="2200" b="0">
                <a:solidFill>
                  <a:srgbClr val="000000"/>
                </a:solidFill>
                <a:latin typeface="Arial"/>
              </a:rPr>
              <a:t>Look for the type of change: a straight calculation, a reverse problem, or interest over time.</a:t>
            </a:r>
          </a:p>
          <a:p>
            <a:pPr algn="l">
              <a:spcAft>
                <a:spcPts val="1400"/>
              </a:spcAft>
            </a:pPr>
            <a:r>
              <a:rPr sz="2200" b="0">
                <a:solidFill>
                  <a:srgbClr val="000000"/>
                </a:solidFill>
                <a:latin typeface="Arial"/>
              </a:rPr>
              <a:t>This lesson mixes all the percentage skills from the last three weeks.</a:t>
            </a:r>
          </a:p>
          <a:p>
            <a:pPr algn="l">
              <a:spcAft>
                <a:spcPts val="1400"/>
              </a:spcAft>
            </a:pPr>
            <a:r>
              <a:rPr sz="2200" b="1">
                <a:solidFill>
                  <a:srgbClr val="000000"/>
                </a:solidFill>
                <a:latin typeface="Arial"/>
              </a:rPr>
              <a:t>Think, pair, share: A shop advert says '20% off, then VAT added at 20%'. Will the final price be the same as the original?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6446520"/>
            <a:ext cx="11277295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595959"/>
                </a:solidFill>
                <a:latin typeface="Arial"/>
              </a:rPr>
              <a:t>Y8 Percentages and Proportionality — Middle Set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56032"/>
            <a:ext cx="7315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 i="0">
                <a:solidFill>
                  <a:srgbClr val="595959"/>
                </a:solidFill>
                <a:latin typeface="Arial"/>
              </a:rPr>
              <a:t>MODELLING: I DO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619695" y="256032"/>
            <a:ext cx="4114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300" b="0" i="0">
                <a:solidFill>
                  <a:srgbClr val="595959"/>
                </a:solidFill>
                <a:latin typeface="Arial"/>
              </a:rPr>
              <a:t>L12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777240"/>
            <a:ext cx="11277295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400" b="1" i="0">
                <a:solidFill>
                  <a:srgbClr val="000000"/>
                </a:solidFill>
                <a:latin typeface="Arial"/>
              </a:rPr>
              <a:t>I Do — Teacher Models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600000"/>
            <a:ext cx="11277295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1" i="0">
                <a:solidFill>
                  <a:srgbClr val="000000"/>
                </a:solidFill>
                <a:latin typeface="Arial"/>
              </a:rPr>
              <a:t>A £45 top has 20% off in a sale. VAT at 20% is then added. Find the final price, and compare it to the original £45.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2602960"/>
            <a:ext cx="11277295" cy="3843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1400"/>
              </a:spcAft>
            </a:pPr>
            <a:r>
              <a:rPr sz="2100" b="0">
                <a:solidFill>
                  <a:srgbClr val="000000"/>
                </a:solidFill>
                <a:latin typeface="Arial"/>
              </a:rPr>
              <a:t>-  Sale price: 45 × 0.8 = 36</a:t>
            </a:r>
          </a:p>
          <a:p>
            <a:pPr algn="l">
              <a:spcAft>
                <a:spcPts val="1400"/>
              </a:spcAft>
            </a:pPr>
            <a:r>
              <a:rPr sz="2100" b="0">
                <a:solidFill>
                  <a:srgbClr val="000000"/>
                </a:solidFill>
                <a:latin typeface="Arial"/>
              </a:rPr>
              <a:t>-  Add VAT: 36 × 1.2 = 43.20</a:t>
            </a:r>
          </a:p>
          <a:p>
            <a:pPr algn="l">
              <a:spcAft>
                <a:spcPts val="1400"/>
              </a:spcAft>
            </a:pPr>
            <a:r>
              <a:rPr sz="2100" b="0">
                <a:solidFill>
                  <a:srgbClr val="000000"/>
                </a:solidFill>
                <a:latin typeface="Arial"/>
              </a:rPr>
              <a:t>-  Final price is £43.20 — £1.80 less than the original £45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6446520"/>
            <a:ext cx="11277295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595959"/>
                </a:solidFill>
                <a:latin typeface="Arial"/>
              </a:rPr>
              <a:t>Y8 Percentages and Proportionality — Middle Set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56032"/>
            <a:ext cx="7315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 i="0">
                <a:solidFill>
                  <a:srgbClr val="595959"/>
                </a:solidFill>
                <a:latin typeface="Arial"/>
              </a:rPr>
              <a:t>MODELLING: WE DO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619695" y="256032"/>
            <a:ext cx="4114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300" b="0" i="0">
                <a:solidFill>
                  <a:srgbClr val="595959"/>
                </a:solidFill>
                <a:latin typeface="Arial"/>
              </a:rPr>
              <a:t>L12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777240"/>
            <a:ext cx="11277295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400" b="1" i="0">
                <a:solidFill>
                  <a:srgbClr val="000000"/>
                </a:solidFill>
                <a:latin typeface="Arial"/>
              </a:rPr>
              <a:t>We Do — Guided Practice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600000"/>
            <a:ext cx="11277295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1" i="0">
                <a:solidFill>
                  <a:srgbClr val="000000"/>
                </a:solidFill>
                <a:latin typeface="Arial"/>
              </a:rPr>
              <a:t>Wages rise by 3% each year for 2 years, from £28,000. Find the wage after 2 years (compound).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2602960"/>
            <a:ext cx="11277295" cy="3843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1400"/>
              </a:spcAft>
            </a:pPr>
            <a:r>
              <a:rPr sz="2100" b="0">
                <a:solidFill>
                  <a:srgbClr val="000000"/>
                </a:solidFill>
                <a:latin typeface="Arial"/>
              </a:rPr>
              <a:t>-  After year 1: 28,000 × 1.03 = 28,840</a:t>
            </a:r>
          </a:p>
          <a:p>
            <a:pPr algn="l">
              <a:spcAft>
                <a:spcPts val="1400"/>
              </a:spcAft>
            </a:pPr>
            <a:r>
              <a:rPr sz="2100" b="0">
                <a:solidFill>
                  <a:srgbClr val="000000"/>
                </a:solidFill>
                <a:latin typeface="Arial"/>
              </a:rPr>
              <a:t>-  After year 2: 28,840 × 1.03 = £29,705.20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6446520"/>
            <a:ext cx="11277295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595959"/>
                </a:solidFill>
                <a:latin typeface="Arial"/>
              </a:rPr>
              <a:t>Y8 Percentages and Proportionality — Middle Set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56032"/>
            <a:ext cx="7315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 i="0">
                <a:solidFill>
                  <a:srgbClr val="595959"/>
                </a:solidFill>
                <a:latin typeface="Arial"/>
              </a:rPr>
              <a:t>INDEPENDENT PRACTICE: YOU DO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619695" y="256032"/>
            <a:ext cx="4114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300" b="0" i="0">
                <a:solidFill>
                  <a:srgbClr val="595959"/>
                </a:solidFill>
                <a:latin typeface="Arial"/>
              </a:rPr>
              <a:t>L12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777240"/>
            <a:ext cx="11277295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400" b="1" i="0">
                <a:solidFill>
                  <a:srgbClr val="000000"/>
                </a:solidFill>
                <a:latin typeface="Arial"/>
              </a:rPr>
              <a:t>You Do — Your Turn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417320"/>
            <a:ext cx="11277295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0" i="0">
                <a:solidFill>
                  <a:srgbClr val="595959"/>
                </a:solidFill>
                <a:latin typeface="Arial"/>
              </a:rPr>
              <a:t>Answers shown in green.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1850000"/>
            <a:ext cx="11277295" cy="24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 i="0">
                <a:solidFill>
                  <a:srgbClr val="595959"/>
                </a:solidFill>
                <a:latin typeface="Arial"/>
              </a:rPr>
              <a:t>Q1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2129263"/>
            <a:ext cx="11277295" cy="3086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1" i="0">
                <a:solidFill>
                  <a:srgbClr val="000000"/>
                </a:solidFill>
                <a:latin typeface="Arial"/>
              </a:rPr>
              <a:t>Find a 15% service charge on a £64 bill, and the total bill.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2526216"/>
            <a:ext cx="11277295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 i="0">
                <a:solidFill>
                  <a:srgbClr val="2B6B3D"/>
                </a:solidFill>
                <a:latin typeface="Arial"/>
              </a:rPr>
              <a:t>Answer: £9.60 charge; total £73.60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3016486"/>
            <a:ext cx="11277295" cy="24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 i="0">
                <a:solidFill>
                  <a:srgbClr val="595959"/>
                </a:solidFill>
                <a:latin typeface="Arial"/>
              </a:rPr>
              <a:t>Q2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3295749"/>
            <a:ext cx="11277295" cy="3086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1" i="0">
                <a:solidFill>
                  <a:srgbClr val="000000"/>
                </a:solidFill>
                <a:latin typeface="Arial"/>
              </a:rPr>
              <a:t>Original price before 25% off if the sale price is £51.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57200" y="3692702"/>
            <a:ext cx="11277295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 i="0">
                <a:solidFill>
                  <a:srgbClr val="2B6B3D"/>
                </a:solidFill>
                <a:latin typeface="Arial"/>
              </a:rPr>
              <a:t>Answer: £68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57200" y="4182972"/>
            <a:ext cx="11277295" cy="24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 i="0">
                <a:solidFill>
                  <a:srgbClr val="595959"/>
                </a:solidFill>
                <a:latin typeface="Arial"/>
              </a:rPr>
              <a:t>Q3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57200" y="4462235"/>
            <a:ext cx="11277295" cy="3086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1" i="0">
                <a:solidFill>
                  <a:srgbClr val="000000"/>
                </a:solidFill>
                <a:latin typeface="Arial"/>
              </a:rPr>
              <a:t>£600 at 3% simple interest for 4 years. Find the interest.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57200" y="4859188"/>
            <a:ext cx="11277295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 i="0">
                <a:solidFill>
                  <a:srgbClr val="2B6B3D"/>
                </a:solidFill>
                <a:latin typeface="Arial"/>
              </a:rPr>
              <a:t>Answer: £72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57200" y="5349458"/>
            <a:ext cx="11277295" cy="24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 i="0">
                <a:solidFill>
                  <a:srgbClr val="595959"/>
                </a:solidFill>
                <a:latin typeface="Arial"/>
              </a:rPr>
              <a:t>Q4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57200" y="5628721"/>
            <a:ext cx="11277295" cy="3086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1" i="0">
                <a:solidFill>
                  <a:srgbClr val="000000"/>
                </a:solidFill>
                <a:latin typeface="Arial"/>
              </a:rPr>
              <a:t>Express 21 out of 35 as a percentage.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57200" y="6025674"/>
            <a:ext cx="11277295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 i="0">
                <a:solidFill>
                  <a:srgbClr val="2B6B3D"/>
                </a:solidFill>
                <a:latin typeface="Arial"/>
              </a:rPr>
              <a:t>Answer: 60%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57200" y="6446520"/>
            <a:ext cx="11277295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595959"/>
                </a:solidFill>
                <a:latin typeface="Arial"/>
              </a:rPr>
              <a:t>Extension: finish early? Move on to the Challenge slide.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56032"/>
            <a:ext cx="7315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 i="0">
                <a:solidFill>
                  <a:srgbClr val="595959"/>
                </a:solidFill>
                <a:latin typeface="Arial"/>
              </a:rPr>
              <a:t>CHALLENGE / EXTENSION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619695" y="256032"/>
            <a:ext cx="4114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300" b="0" i="0">
                <a:solidFill>
                  <a:srgbClr val="595959"/>
                </a:solidFill>
                <a:latin typeface="Arial"/>
              </a:rPr>
              <a:t>L12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777240"/>
            <a:ext cx="11277295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400" b="1" i="0">
                <a:solidFill>
                  <a:srgbClr val="000000"/>
                </a:solidFill>
                <a:latin typeface="Arial"/>
              </a:rPr>
              <a:t>Challenge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417320"/>
            <a:ext cx="11277295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0" i="0">
                <a:solidFill>
                  <a:srgbClr val="595959"/>
                </a:solidFill>
                <a:latin typeface="Arial"/>
              </a:rPr>
              <a:t>For students who are ready to go further. Answers shown in green.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1950000"/>
            <a:ext cx="11277295" cy="24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 i="0">
                <a:solidFill>
                  <a:srgbClr val="595959"/>
                </a:solidFill>
                <a:latin typeface="Arial"/>
              </a:rPr>
              <a:t>Challenge 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2230000"/>
            <a:ext cx="11277295" cy="32575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900" b="1" i="0">
                <a:solidFill>
                  <a:srgbClr val="000000"/>
                </a:solidFill>
                <a:latin typeface="Arial"/>
              </a:rPr>
              <a:t>A £2,500 investment grows at 4% compound interest for 3 years. Find its value.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2645755"/>
            <a:ext cx="11277295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 i="0">
                <a:solidFill>
                  <a:srgbClr val="2B6B3D"/>
                </a:solidFill>
                <a:latin typeface="Arial"/>
              </a:rPr>
              <a:t>Answer: £2,812.16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3140075"/>
            <a:ext cx="11277295" cy="24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 i="0">
                <a:solidFill>
                  <a:srgbClr val="595959"/>
                </a:solidFill>
                <a:latin typeface="Arial"/>
              </a:rPr>
              <a:t>Challenge 2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3420075"/>
            <a:ext cx="11277295" cy="6515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900" b="1" i="0">
                <a:solidFill>
                  <a:srgbClr val="000000"/>
                </a:solidFill>
                <a:latin typeface="Arial"/>
              </a:rPr>
              <a:t>A meal costs £46 including a 15% service charge, then a 10% discount voucher is applied to that total. Find the final price.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57200" y="4161585"/>
            <a:ext cx="11277295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 i="0">
                <a:solidFill>
                  <a:srgbClr val="2B6B3D"/>
                </a:solidFill>
                <a:latin typeface="Arial"/>
              </a:rPr>
              <a:t>Answer: £41.40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57200" y="6446520"/>
            <a:ext cx="11277295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595959"/>
                </a:solidFill>
                <a:latin typeface="Arial"/>
              </a:rPr>
              <a:t>Y8 Percentages and Proportionality — Middle Set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56032"/>
            <a:ext cx="7315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 i="0">
                <a:solidFill>
                  <a:srgbClr val="595959"/>
                </a:solidFill>
                <a:latin typeface="Arial"/>
              </a:rPr>
              <a:t>PLENARY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619695" y="256032"/>
            <a:ext cx="4114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300" b="0" i="0">
                <a:solidFill>
                  <a:srgbClr val="595959"/>
                </a:solidFill>
                <a:latin typeface="Arial"/>
              </a:rPr>
              <a:t>L12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777240"/>
            <a:ext cx="11277295" cy="45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 i="0">
                <a:solidFill>
                  <a:srgbClr val="000000"/>
                </a:solidFill>
                <a:latin typeface="Arial"/>
              </a:rPr>
              <a:t>Real-Life Relay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300000"/>
            <a:ext cx="11277295" cy="5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595959"/>
                </a:solidFill>
                <a:latin typeface="Arial"/>
              </a:rPr>
              <a:t>Mixed real-life relay covering weeks 1–3. Read each question; students choose the correct method.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1750000"/>
            <a:ext cx="2000000" cy="25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595959"/>
                </a:solidFill>
                <a:latin typeface="Arial"/>
              </a:rPr>
              <a:t>Grid numbers: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2457200" y="1750000"/>
            <a:ext cx="900000" cy="25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 i="0">
                <a:solidFill>
                  <a:srgbClr val="000000"/>
                </a:solidFill>
                <a:latin typeface="Arial"/>
              </a:rPr>
              <a:t>9.6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407200" y="1750000"/>
            <a:ext cx="900000" cy="25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 i="0">
                <a:solidFill>
                  <a:srgbClr val="000000"/>
                </a:solidFill>
                <a:latin typeface="Arial"/>
              </a:rPr>
              <a:t>68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357200" y="1750000"/>
            <a:ext cx="900000" cy="25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 i="0">
                <a:solidFill>
                  <a:srgbClr val="000000"/>
                </a:solidFill>
                <a:latin typeface="Arial"/>
              </a:rPr>
              <a:t>72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307200" y="1750000"/>
            <a:ext cx="900000" cy="25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 i="0">
                <a:solidFill>
                  <a:srgbClr val="000000"/>
                </a:solidFill>
                <a:latin typeface="Arial"/>
              </a:rPr>
              <a:t>60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57200" y="2150000"/>
            <a:ext cx="5450000" cy="33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500" b="1">
                <a:solidFill>
                  <a:srgbClr val="000000"/>
                </a:solidFill>
                <a:latin typeface="Arial"/>
              </a:rPr>
              <a:t>1. 15% charge on £40 bill?   </a:t>
            </a:r>
            <a:r>
              <a:rPr sz="1500" b="1">
                <a:solidFill>
                  <a:srgbClr val="2B6B3D"/>
                </a:solidFill>
                <a:latin typeface="Arial"/>
              </a:rPr>
              <a:t>£6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57200" y="2480000"/>
            <a:ext cx="5450000" cy="33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500" b="1">
                <a:solidFill>
                  <a:srgbClr val="000000"/>
                </a:solidFill>
                <a:latin typeface="Arial"/>
              </a:rPr>
              <a:t>2. Original price if £54 is after 10% off?   </a:t>
            </a:r>
            <a:r>
              <a:rPr sz="1500" b="1">
                <a:solidFill>
                  <a:srgbClr val="2B6B3D"/>
                </a:solidFill>
                <a:latin typeface="Arial"/>
              </a:rPr>
              <a:t>£60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57200" y="2810000"/>
            <a:ext cx="5450000" cy="33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500" b="1">
                <a:solidFill>
                  <a:srgbClr val="000000"/>
                </a:solidFill>
                <a:latin typeface="Arial"/>
              </a:rPr>
              <a:t>3. £400 simple interest at 5%, 3 yrs?   </a:t>
            </a:r>
            <a:r>
              <a:rPr sz="1500" b="1">
                <a:solidFill>
                  <a:srgbClr val="2B6B3D"/>
                </a:solidFill>
                <a:latin typeface="Arial"/>
              </a:rPr>
              <a:t>£60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57200" y="3140000"/>
            <a:ext cx="5450000" cy="33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500" b="1">
                <a:solidFill>
                  <a:srgbClr val="000000"/>
                </a:solidFill>
                <a:latin typeface="Arial"/>
              </a:rPr>
              <a:t>4. 18 out of 24 as a %?   </a:t>
            </a:r>
            <a:r>
              <a:rPr sz="1500" b="1">
                <a:solidFill>
                  <a:srgbClr val="2B6B3D"/>
                </a:solidFill>
                <a:latin typeface="Arial"/>
              </a:rPr>
              <a:t>75%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284495" y="2150000"/>
            <a:ext cx="5450000" cy="33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500" b="1">
                <a:solidFill>
                  <a:srgbClr val="000000"/>
                </a:solidFill>
                <a:latin typeface="Arial"/>
              </a:rPr>
              <a:t>5. 20% charge on £80 bill?   </a:t>
            </a:r>
            <a:r>
              <a:rPr sz="1500" b="1">
                <a:solidFill>
                  <a:srgbClr val="2B6B3D"/>
                </a:solidFill>
                <a:latin typeface="Arial"/>
              </a:rPr>
              <a:t>£16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284495" y="2480000"/>
            <a:ext cx="5450000" cy="33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500" b="1">
                <a:solidFill>
                  <a:srgbClr val="000000"/>
                </a:solidFill>
                <a:latin typeface="Arial"/>
              </a:rPr>
              <a:t>6. Original price if £76 is after 5% off?   </a:t>
            </a:r>
            <a:r>
              <a:rPr sz="1500" b="1">
                <a:solidFill>
                  <a:srgbClr val="2B6B3D"/>
                </a:solidFill>
                <a:latin typeface="Arial"/>
              </a:rPr>
              <a:t>£80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284495" y="2810000"/>
            <a:ext cx="5450000" cy="33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500" b="1">
                <a:solidFill>
                  <a:srgbClr val="000000"/>
                </a:solidFill>
                <a:latin typeface="Arial"/>
              </a:rPr>
              <a:t>7. £300 compound interest at 10%, 2 yrs?   </a:t>
            </a:r>
            <a:r>
              <a:rPr sz="1500" b="1">
                <a:solidFill>
                  <a:srgbClr val="2B6B3D"/>
                </a:solidFill>
                <a:latin typeface="Arial"/>
              </a:rPr>
              <a:t>£363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284495" y="3140000"/>
            <a:ext cx="5450000" cy="33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500" b="1">
                <a:solidFill>
                  <a:srgbClr val="000000"/>
                </a:solidFill>
                <a:latin typeface="Arial"/>
              </a:rPr>
              <a:t>8. 27 out of 36 as a %?   </a:t>
            </a:r>
            <a:r>
              <a:rPr sz="1500" b="1">
                <a:solidFill>
                  <a:srgbClr val="2B6B3D"/>
                </a:solidFill>
                <a:latin typeface="Arial"/>
              </a:rPr>
              <a:t>75%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57200" y="3620000"/>
            <a:ext cx="11277295" cy="4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 i="0">
                <a:solidFill>
                  <a:srgbClr val="000000"/>
                </a:solidFill>
                <a:latin typeface="Arial"/>
              </a:rPr>
              <a:t>Exit check: Which of today's problems needed a reverse percentage? How could you tell?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57200" y="6446520"/>
            <a:ext cx="11277295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595959"/>
                </a:solidFill>
                <a:latin typeface="Arial"/>
              </a:rPr>
              <a:t>Y8 Percentages and Proportionality — Middle Set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