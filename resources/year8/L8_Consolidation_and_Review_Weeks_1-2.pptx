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Solve: x − 8 = 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x =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Solve: 6x = -30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x = -5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Solve: 3x + 4 = 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x =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Solve: -2x + 5 =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x = -3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Solve: x ÷ 4 − 2 =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x =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Solving Linear Equations — Lower-to-Middle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2 · LESSON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800" b="1" i="0">
                <a:solidFill>
                  <a:srgbClr val="000000"/>
                </a:solidFill>
                <a:latin typeface="Arial"/>
              </a:rPr>
              <a:t>Consolidation and Review (Weeks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Consolidate solving one-step and two-step equations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Identify and correct common errors in worked solutions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Build confidence and fluency ahead of the next stage (brackets)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Consolidation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Review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Common error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992624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Fluency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Solving Linear Equations — Lower-to-Middle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Find the Mistake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Everyone makes mistakes when learning something new — even in maths! The key is learning to spot and fix them.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Today we'll look at some worked solutions that contain a mistake, and correct them.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This will help us avoid making the same mistakes ourselves.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Look at this 'solution': 2x + 4 = 10 → 2x = 14 → x = 7. What went wrong?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Solving Linear Equations — Lower-to-Middle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1127729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Find and fix the mistake: 3x − 5 = 10 → 3x = 5 → x = 1.67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127729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-  Check the first step: −5 becomes +5 when moved, so 3x = 10 + 5 = 15, not 5. That's the mistake.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-  Corrected: 3x = 15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-  Divide both sides by 3: x = 5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-  Check: 3 × 5 − 5 = 15 − 5 = 10 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Solving Linear Equations — Lower-to-Middle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1127729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Find and fix the mistake: 4x + 6 = 2 → 4x = 8 → x =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127729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-  Check step 1: subtract 6 from both sides → 4x = 2 − 6 = -4, not 8. That's the mistake.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-  Corrected: 4x = -4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-  Divide both sides by 4: x = -1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-  Check: 4 × (-1) + 6 = -4 + 6 = 2 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Solving Linear Equations — Lower-to-Middle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Q1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2x + 5 = 13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2B6B3D"/>
                </a:solidFill>
                <a:latin typeface="Arial"/>
              </a:rPr>
              <a:t>Answer: x =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x ÷ 3 + 4 = 1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2B6B3D"/>
                </a:solidFill>
                <a:latin typeface="Arial"/>
              </a:rPr>
              <a:t>Answer: x = -9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-5x + 2 = 17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2B6B3D"/>
                </a:solidFill>
                <a:latin typeface="Arial"/>
              </a:rPr>
              <a:t>Answer: x = -3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7x − 9 = 19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2B6B3D"/>
                </a:solidFill>
                <a:latin typeface="Arial"/>
              </a:rPr>
              <a:t>Answer: x =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 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1900" b="0" i="0">
                <a:solidFill>
                  <a:srgbClr val="000000"/>
                </a:solidFill>
                <a:latin typeface="Arial"/>
              </a:rPr>
              <a:t>Find and fix: '6x − 4 = 20 → 6x = 16 → x = 2.67'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2B6B3D"/>
                </a:solidFill>
                <a:latin typeface="Arial"/>
              </a:rPr>
              <a:t>Answer: x = 4 (6x = 24)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0624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1900" b="0" i="0">
                <a:solidFill>
                  <a:srgbClr val="000000"/>
                </a:solidFill>
                <a:latin typeface="Arial"/>
              </a:rPr>
              <a:t>-4x + 15 = 3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2B6B3D"/>
                </a:solidFill>
                <a:latin typeface="Arial"/>
              </a:rPr>
              <a:t>Answer: x =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Solving Linear Equations — Lower-to-Middle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Equations Championship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95959"/>
                </a:solidFill>
                <a:latin typeface="Arial"/>
              </a:rPr>
              <a:t>4 teams. Each round every team solves the same equation on whiteboards — correct teams score a point, fastest correct team gets a bonus.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5455767" cy="97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1. x − 9 = -14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x = -5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46069"/>
            <a:ext cx="5455767" cy="97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2. 6x = -42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x = -7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17619"/>
            <a:ext cx="5455767" cy="97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3. 3x + 5 = 23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x =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89169"/>
            <a:ext cx="5455767" cy="97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4. -4x + 7 = 19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x = 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874519"/>
            <a:ext cx="5455767" cy="97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5. x ÷ 5 − 3 = 1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x =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2846069"/>
            <a:ext cx="5455767" cy="97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6. 8x − 6 = 18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x =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727" y="3817619"/>
            <a:ext cx="5455767" cy="97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7. x + 16 = -2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x = -18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4789169"/>
            <a:ext cx="5455767" cy="97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8. -2x − 5 = 9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x = -7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Exit check: Solve 5x − 6 = 14 and check your answer.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Solving Linear Equations — Lower-to-Middle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