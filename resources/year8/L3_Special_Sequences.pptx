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1" i="0">
                <a:solidFill>
                  <a:srgbClr val="595959"/>
                </a:solidFill>
                <a:latin typeface="Arial"/>
              </a:rPr>
              <a:t>RETRIEVAL PRACTICE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19695" y="256032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800"/>
              </a:spcAft>
            </a:pPr>
            <a:r>
              <a:rPr sz="1300" b="0" i="0">
                <a:solidFill>
                  <a:srgbClr val="595959"/>
                </a:solidFill>
                <a:latin typeface="Arial"/>
              </a:rPr>
              <a:t>Y8 SEQUENCES · L3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772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3400" b="1" i="0">
                <a:solidFill>
                  <a:srgbClr val="000000"/>
                </a:solidFill>
                <a:latin typeface="Arial"/>
              </a:rPr>
              <a:t>Retrieval Practice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417320"/>
            <a:ext cx="1127729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1">
                <a:solidFill>
                  <a:srgbClr val="595959"/>
                </a:solidFill>
                <a:latin typeface="Arial"/>
              </a:rPr>
              <a:t>Answer on paper or mini-whiteboards. No calculators.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95360" y="1508760"/>
            <a:ext cx="313913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1" i="0">
                <a:solidFill>
                  <a:srgbClr val="595959"/>
                </a:solidFill>
                <a:latin typeface="Arial"/>
              </a:rPr>
              <a:t>Answers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965960"/>
            <a:ext cx="786384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200" b="0" i="0">
                <a:solidFill>
                  <a:srgbClr val="000000"/>
                </a:solidFill>
                <a:latin typeface="Arial"/>
              </a:rPr>
              <a:t>1.  9 x 9 =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95360" y="1965960"/>
            <a:ext cx="3139135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000" b="0" i="0">
                <a:solidFill>
                  <a:srgbClr val="595959"/>
                </a:solidFill>
                <a:latin typeface="Arial"/>
              </a:rPr>
              <a:t>81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679192"/>
            <a:ext cx="786384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200" b="0" i="0">
                <a:solidFill>
                  <a:srgbClr val="000000"/>
                </a:solidFill>
                <a:latin typeface="Arial"/>
              </a:rPr>
              <a:t>2.  -5 x -2 =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95360" y="2679192"/>
            <a:ext cx="3139135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000" b="0" i="0">
                <a:solidFill>
                  <a:srgbClr val="595959"/>
                </a:solidFill>
                <a:latin typeface="Arial"/>
              </a:rPr>
              <a:t>10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3392424"/>
            <a:ext cx="786384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200" b="0" i="0">
                <a:solidFill>
                  <a:srgbClr val="000000"/>
                </a:solidFill>
                <a:latin typeface="Arial"/>
              </a:rPr>
              <a:t>3.  3 x (4 + 2) =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95360" y="3392424"/>
            <a:ext cx="3139135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000" b="0" i="0">
                <a:solidFill>
                  <a:srgbClr val="595959"/>
                </a:solidFill>
                <a:latin typeface="Arial"/>
              </a:rPr>
              <a:t>18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4105656"/>
            <a:ext cx="786384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200" b="0" i="0">
                <a:solidFill>
                  <a:srgbClr val="000000"/>
                </a:solidFill>
                <a:latin typeface="Arial"/>
              </a:rPr>
              <a:t>4.  Sequence 20, 14, 8, 2 — rule and next term?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95360" y="4105656"/>
            <a:ext cx="3139135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000" b="0" i="0">
                <a:solidFill>
                  <a:srgbClr val="595959"/>
                </a:solidFill>
                <a:latin typeface="Arial"/>
              </a:rPr>
              <a:t>-6, then -4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4818888"/>
            <a:ext cx="786384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200" b="0" i="0">
                <a:solidFill>
                  <a:srgbClr val="000000"/>
                </a:solidFill>
                <a:latin typeface="Arial"/>
              </a:rPr>
              <a:t>5.  Continue: 100, 90, 80, 70, __, __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95360" y="4818888"/>
            <a:ext cx="3139135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000" b="0" i="0">
                <a:solidFill>
                  <a:srgbClr val="595959"/>
                </a:solidFill>
                <a:latin typeface="Arial"/>
              </a:rPr>
              <a:t>60, 50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6446520"/>
            <a:ext cx="1127729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100" b="0" i="0">
                <a:solidFill>
                  <a:srgbClr val="595959"/>
                </a:solidFill>
                <a:latin typeface="Arial"/>
              </a:rPr>
              <a:t>Y8 Sequences — Middle Set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1" i="0">
                <a:solidFill>
                  <a:srgbClr val="595959"/>
                </a:solidFill>
                <a:latin typeface="Arial"/>
              </a:rPr>
              <a:t>WEEK 1 · LESSON 3 OF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19695" y="256032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800"/>
              </a:spcAft>
            </a:pPr>
            <a:r>
              <a:rPr sz="1300" b="0" i="0">
                <a:solidFill>
                  <a:srgbClr val="595959"/>
                </a:solidFill>
                <a:latin typeface="Arial"/>
              </a:rPr>
              <a:t>Y8 SEQUENCES · L3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68680"/>
            <a:ext cx="7772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595959"/>
                </a:solidFill>
                <a:latin typeface="Arial"/>
              </a:rPr>
              <a:t>Date: _______________________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417320"/>
            <a:ext cx="1127729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4000" b="1" i="0">
                <a:solidFill>
                  <a:srgbClr val="000000"/>
                </a:solidFill>
                <a:latin typeface="Arial"/>
              </a:rPr>
              <a:t>Special Sequences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788920"/>
            <a:ext cx="6949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000" b="1" i="0">
                <a:solidFill>
                  <a:srgbClr val="000000"/>
                </a:solidFill>
                <a:latin typeface="Arial"/>
              </a:rPr>
              <a:t>Learning Objectives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246120"/>
            <a:ext cx="694944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2200" b="0" i="0">
                <a:solidFill>
                  <a:srgbClr val="000000"/>
                </a:solidFill>
                <a:latin typeface="Arial"/>
              </a:rPr>
              <a:t>-  I can recognise and generate square, cube and triangular numbers.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2200" b="0" i="0">
                <a:solidFill>
                  <a:srgbClr val="000000"/>
                </a:solidFill>
                <a:latin typeface="Arial"/>
              </a:rPr>
              <a:t>-  I can explain the pattern behind each special sequence.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0" y="2788920"/>
            <a:ext cx="3474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000" b="1" i="0">
                <a:solidFill>
                  <a:srgbClr val="000000"/>
                </a:solidFill>
                <a:latin typeface="Arial"/>
              </a:rPr>
              <a:t>Key Words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0" y="3291840"/>
            <a:ext cx="3291840" cy="438912"/>
          </a:xfrm>
          <a:prstGeom prst="roundRect">
            <a:avLst/>
          </a:prstGeom>
          <a:solidFill>
            <a:srgbClr val="F2F2F2"/>
          </a:solidFill>
          <a:ln w="9525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8288" bIns="18288"/>
          <a:lstStyle/>
          <a:p>
            <a:pPr algn="ctr"/>
            <a:r>
              <a:rPr sz="1500" b="1" i="0">
                <a:solidFill>
                  <a:srgbClr val="000000"/>
                </a:solidFill>
                <a:latin typeface="Arial"/>
              </a:rPr>
              <a:t>Square number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0" y="3858768"/>
            <a:ext cx="3291840" cy="438912"/>
          </a:xfrm>
          <a:prstGeom prst="roundRect">
            <a:avLst/>
          </a:prstGeom>
          <a:solidFill>
            <a:srgbClr val="F2F2F2"/>
          </a:solidFill>
          <a:ln w="9525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8288" bIns="18288"/>
          <a:lstStyle/>
          <a:p>
            <a:pPr algn="ctr"/>
            <a:r>
              <a:rPr sz="1500" b="1" i="0">
                <a:solidFill>
                  <a:srgbClr val="000000"/>
                </a:solidFill>
                <a:latin typeface="Arial"/>
              </a:rPr>
              <a:t>Cube number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0" y="4425696"/>
            <a:ext cx="3291840" cy="438912"/>
          </a:xfrm>
          <a:prstGeom prst="roundRect">
            <a:avLst/>
          </a:prstGeom>
          <a:solidFill>
            <a:srgbClr val="F2F2F2"/>
          </a:solidFill>
          <a:ln w="9525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8288" bIns="18288"/>
          <a:lstStyle/>
          <a:p>
            <a:pPr algn="ctr"/>
            <a:r>
              <a:rPr sz="1500" b="1" i="0">
                <a:solidFill>
                  <a:srgbClr val="000000"/>
                </a:solidFill>
                <a:latin typeface="Arial"/>
              </a:rPr>
              <a:t>Triangular number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6446520"/>
            <a:ext cx="1127729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100" b="0" i="0">
                <a:solidFill>
                  <a:srgbClr val="595959"/>
                </a:solidFill>
                <a:latin typeface="Arial"/>
              </a:rPr>
              <a:t>Y8 Sequences — Middle Set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1" i="0">
                <a:solidFill>
                  <a:srgbClr val="595959"/>
                </a:solidFill>
                <a:latin typeface="Arial"/>
              </a:rPr>
              <a:t>CONTEXT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19695" y="256032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800"/>
              </a:spcAft>
            </a:pPr>
            <a:r>
              <a:rPr sz="1300" b="0" i="0">
                <a:solidFill>
                  <a:srgbClr val="595959"/>
                </a:solidFill>
                <a:latin typeface="Arial"/>
              </a:rPr>
              <a:t>Y8 SEQUENCES · L3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772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3400" b="1" i="0">
                <a:solidFill>
                  <a:srgbClr val="000000"/>
                </a:solidFill>
                <a:latin typeface="Arial"/>
              </a:rPr>
              <a:t>Dots, Blocks and Triangles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91640"/>
            <a:ext cx="11277295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400"/>
              </a:spcAft>
            </a:pPr>
            <a:r>
              <a:rPr sz="2200" b="0" i="0">
                <a:solidFill>
                  <a:srgbClr val="000000"/>
                </a:solidFill>
                <a:latin typeface="Arial"/>
              </a:rPr>
              <a:t>Square numbers come from dot arrays arranged in a square: 1, 4, 9, 16, 25 ...</a:t>
            </a:r>
          </a:p>
          <a:p>
            <a:pPr algn="l">
              <a:spcBef>
                <a:spcPts val="0"/>
              </a:spcBef>
              <a:spcAft>
                <a:spcPts val="1400"/>
              </a:spcAft>
            </a:pPr>
            <a:r>
              <a:rPr sz="2200" b="0" i="0">
                <a:solidFill>
                  <a:srgbClr val="000000"/>
                </a:solidFill>
                <a:latin typeface="Arial"/>
              </a:rPr>
              <a:t>Triangular numbers come from dots stacked like bowling pins: 1, 3, 6, 10, 15 ...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4297680"/>
            <a:ext cx="11277295" cy="1371600"/>
          </a:xfrm>
          <a:prstGeom prst="roundRect">
            <a:avLst/>
          </a:prstGeom>
          <a:solidFill>
            <a:srgbClr val="F2F2F2"/>
          </a:solidFill>
          <a:ln w="9525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/>
          <a:lstStyle/>
          <a:p>
            <a:pPr algn="l"/>
            <a:r>
              <a:rPr sz="2200" b="1" i="0">
                <a:solidFill>
                  <a:srgbClr val="000000"/>
                </a:solidFill>
                <a:latin typeface="Arial"/>
              </a:rPr>
              <a:t>Think, pair, share: How many dots would be in the next triangle pattern after 15?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1127729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100" b="0" i="0">
                <a:solidFill>
                  <a:srgbClr val="595959"/>
                </a:solidFill>
                <a:latin typeface="Arial"/>
              </a:rPr>
              <a:t>Y8 Sequences — Middle Set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1" i="0">
                <a:solidFill>
                  <a:srgbClr val="595959"/>
                </a:solidFill>
                <a:latin typeface="Arial"/>
              </a:rPr>
              <a:t>MODELLING: I 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19695" y="256032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800"/>
              </a:spcAft>
            </a:pPr>
            <a:r>
              <a:rPr sz="1300" b="0" i="0">
                <a:solidFill>
                  <a:srgbClr val="595959"/>
                </a:solidFill>
                <a:latin typeface="Arial"/>
              </a:rPr>
              <a:t>Y8 SEQUENCES · L3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772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3400" b="1" i="0">
                <a:solidFill>
                  <a:srgbClr val="000000"/>
                </a:solidFill>
                <a:latin typeface="Arial"/>
              </a:rPr>
              <a:t>I Do — Teacher Models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00200"/>
            <a:ext cx="1127729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400" b="1" i="0">
                <a:solidFill>
                  <a:srgbClr val="000000"/>
                </a:solidFill>
                <a:latin typeface="Arial"/>
              </a:rPr>
              <a:t>List the first 6 square numbers.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194560"/>
            <a:ext cx="11277295" cy="3840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200" b="0" i="0">
                <a:solidFill>
                  <a:srgbClr val="000000"/>
                </a:solidFill>
                <a:latin typeface="Arial"/>
              </a:rPr>
              <a:t>-  Square numbers come from n x n (or n²).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200" b="0" i="0">
                <a:solidFill>
                  <a:srgbClr val="000000"/>
                </a:solidFill>
                <a:latin typeface="Arial"/>
              </a:rPr>
              <a:t>-  1²=1, 2²=4, 3²=9, 4²=16, 5²=25, 6²=36.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200" b="0" i="0">
                <a:solidFill>
                  <a:srgbClr val="000000"/>
                </a:solidFill>
                <a:latin typeface="Arial"/>
              </a:rPr>
              <a:t>-  Answer: 1, 4, 9, 16, 25, 36.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1127729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100" b="0" i="0">
                <a:solidFill>
                  <a:srgbClr val="595959"/>
                </a:solidFill>
                <a:latin typeface="Arial"/>
              </a:rPr>
              <a:t>Y8 Sequences — Middle Set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1" i="0">
                <a:solidFill>
                  <a:srgbClr val="595959"/>
                </a:solidFill>
                <a:latin typeface="Arial"/>
              </a:rPr>
              <a:t>MODELLING: WE 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19695" y="256032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800"/>
              </a:spcAft>
            </a:pPr>
            <a:r>
              <a:rPr sz="1300" b="0" i="0">
                <a:solidFill>
                  <a:srgbClr val="595959"/>
                </a:solidFill>
                <a:latin typeface="Arial"/>
              </a:rPr>
              <a:t>Y8 SEQUENCES · L3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772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3400" b="1" i="0">
                <a:solidFill>
                  <a:srgbClr val="000000"/>
                </a:solidFill>
                <a:latin typeface="Arial"/>
              </a:rPr>
              <a:t>We Do — Guided Practice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00200"/>
            <a:ext cx="1127729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400" b="1" i="0">
                <a:solidFill>
                  <a:srgbClr val="000000"/>
                </a:solidFill>
                <a:latin typeface="Arial"/>
              </a:rPr>
              <a:t>Continue the triangular numbers: 1, 3, 6, 10, 15, ...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194560"/>
            <a:ext cx="11277295" cy="3840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200" b="0" i="0">
                <a:solidFill>
                  <a:srgbClr val="000000"/>
                </a:solidFill>
                <a:latin typeface="Arial"/>
              </a:rPr>
              <a:t>-  Look at what is added each time: +2, +3, +4, +5, so next is +6.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200" b="0" i="0">
                <a:solidFill>
                  <a:srgbClr val="000000"/>
                </a:solidFill>
                <a:latin typeface="Arial"/>
              </a:rPr>
              <a:t>-  15 + 6 = ___.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200" b="0" i="0">
                <a:solidFill>
                  <a:srgbClr val="000000"/>
                </a:solidFill>
                <a:latin typeface="Arial"/>
              </a:rPr>
              <a:t>-  Answer: 21.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1127729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100" b="0" i="0">
                <a:solidFill>
                  <a:srgbClr val="595959"/>
                </a:solidFill>
                <a:latin typeface="Arial"/>
              </a:rPr>
              <a:t>Y8 Sequences — Middle Set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1" i="0">
                <a:solidFill>
                  <a:srgbClr val="595959"/>
                </a:solidFill>
                <a:latin typeface="Arial"/>
              </a:rPr>
              <a:t>INDEPENDENT PRACTICE: YOU 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19695" y="256032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800"/>
              </a:spcAft>
            </a:pPr>
            <a:r>
              <a:rPr sz="1300" b="0" i="0">
                <a:solidFill>
                  <a:srgbClr val="595959"/>
                </a:solidFill>
                <a:latin typeface="Arial"/>
              </a:rPr>
              <a:t>Y8 SEQUENCES · L3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772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3400" b="1" i="0">
                <a:solidFill>
                  <a:srgbClr val="000000"/>
                </a:solidFill>
                <a:latin typeface="Arial"/>
              </a:rPr>
              <a:t>You Do — Your Turn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71600"/>
            <a:ext cx="1127729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1">
                <a:solidFill>
                  <a:srgbClr val="595959"/>
                </a:solidFill>
                <a:latin typeface="Arial"/>
              </a:rPr>
              <a:t>Question 1 is scaffolded to get you started.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874519"/>
            <a:ext cx="5455767" cy="2103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28016" bIns="91440"/>
          <a:lstStyle/>
          <a:p>
            <a:pPr algn="ctr"/>
            <a:r>
              <a:rPr sz="1600" b="1" i="0">
                <a:solidFill>
                  <a:srgbClr val="595959"/>
                </a:solidFill>
                <a:latin typeface="Arial"/>
              </a:rPr>
              <a:t>Q1  (scaffold)</a:t>
            </a:r>
          </a:p>
          <a:p>
            <a:pPr>
              <a:spcBef>
                <a:spcPts val="400"/>
              </a:spcBef>
            </a:pPr>
            <a:r>
              <a:rPr sz="2000" b="1" i="0">
                <a:solidFill>
                  <a:srgbClr val="000000"/>
                </a:solidFill>
                <a:latin typeface="Arial"/>
              </a:rPr>
              <a:t>List the first 5 cube numbers (n³).</a:t>
            </a:r>
          </a:p>
          <a:p>
            <a:pPr>
              <a:spcBef>
                <a:spcPts val="600"/>
              </a:spcBef>
            </a:pPr>
            <a:r>
              <a:rPr sz="1600" b="0" i="1">
                <a:solidFill>
                  <a:srgbClr val="595959"/>
                </a:solidFill>
                <a:latin typeface="Arial"/>
              </a:rPr>
              <a:t>1³=1, 2³=___, 3³=___, 4³=___, 5³=___.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78727" y="1874519"/>
            <a:ext cx="5455767" cy="2103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28016" bIns="91440"/>
          <a:lstStyle/>
          <a:p>
            <a:pPr algn="ctr"/>
            <a:r>
              <a:rPr sz="1600" b="1" i="0">
                <a:solidFill>
                  <a:srgbClr val="595959"/>
                </a:solidFill>
                <a:latin typeface="Arial"/>
              </a:rPr>
              <a:t>Q2</a:t>
            </a:r>
          </a:p>
          <a:p>
            <a:pPr>
              <a:spcBef>
                <a:spcPts val="400"/>
              </a:spcBef>
            </a:pPr>
            <a:r>
              <a:rPr sz="2000" b="1" i="0">
                <a:solidFill>
                  <a:srgbClr val="000000"/>
                </a:solidFill>
                <a:latin typeface="Arial"/>
              </a:rPr>
              <a:t>What are the 6th and 7th square numbers?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4160520"/>
            <a:ext cx="5455767" cy="2103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28016" bIns="91440"/>
          <a:lstStyle/>
          <a:p>
            <a:pPr algn="ctr"/>
            <a:r>
              <a:rPr sz="1600" b="1" i="0">
                <a:solidFill>
                  <a:srgbClr val="595959"/>
                </a:solidFill>
                <a:latin typeface="Arial"/>
              </a:rPr>
              <a:t>Q3</a:t>
            </a:r>
          </a:p>
          <a:p>
            <a:pPr>
              <a:spcBef>
                <a:spcPts val="400"/>
              </a:spcBef>
            </a:pPr>
            <a:r>
              <a:rPr sz="2000" b="1" i="0">
                <a:solidFill>
                  <a:srgbClr val="000000"/>
                </a:solidFill>
                <a:latin typeface="Arial"/>
              </a:rPr>
              <a:t>Continue the triangular numbers: 1, 3, 6, 10, 15, 21, find the next 2 terms.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78727" y="4160520"/>
            <a:ext cx="5455767" cy="2103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28016" bIns="91440"/>
          <a:lstStyle/>
          <a:p>
            <a:pPr algn="ctr"/>
            <a:r>
              <a:rPr sz="1600" b="1" i="0">
                <a:solidFill>
                  <a:srgbClr val="595959"/>
                </a:solidFill>
                <a:latin typeface="Arial"/>
              </a:rPr>
              <a:t>Q4</a:t>
            </a:r>
          </a:p>
          <a:p>
            <a:pPr>
              <a:spcBef>
                <a:spcPts val="400"/>
              </a:spcBef>
            </a:pPr>
            <a:r>
              <a:rPr sz="2000" b="1" i="0">
                <a:solidFill>
                  <a:srgbClr val="000000"/>
                </a:solidFill>
                <a:latin typeface="Arial"/>
              </a:rPr>
              <a:t>Find the 10th square number and the 10th triangular number. Which is bigger?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46520"/>
            <a:ext cx="1127729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100" b="0" i="0">
                <a:solidFill>
                  <a:srgbClr val="595959"/>
                </a:solidFill>
                <a:latin typeface="Arial"/>
              </a:rPr>
              <a:t>Extension: finish early? Move on to the Challenge slide.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1" i="0">
                <a:solidFill>
                  <a:srgbClr val="595959"/>
                </a:solidFill>
                <a:latin typeface="Arial"/>
              </a:rPr>
              <a:t>CHALLENGE / EXTENSION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19695" y="256032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800"/>
              </a:spcAft>
            </a:pPr>
            <a:r>
              <a:rPr sz="1300" b="0" i="0">
                <a:solidFill>
                  <a:srgbClr val="595959"/>
                </a:solidFill>
                <a:latin typeface="Arial"/>
              </a:rPr>
              <a:t>Y8 SEQUENCES · L3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772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3400" b="1" i="0">
                <a:solidFill>
                  <a:srgbClr val="000000"/>
                </a:solidFill>
                <a:latin typeface="Arial"/>
              </a:rPr>
              <a:t>Challenge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417320"/>
            <a:ext cx="1127729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1">
                <a:solidFill>
                  <a:srgbClr val="595959"/>
                </a:solidFill>
                <a:latin typeface="Arial"/>
              </a:rPr>
              <a:t>For students who are ready to go further.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965960"/>
            <a:ext cx="11277295" cy="1920240"/>
          </a:xfrm>
          <a:prstGeom prst="roundRect">
            <a:avLst/>
          </a:prstGeom>
          <a:solidFill>
            <a:srgbClr val="F2F2F2"/>
          </a:solidFill>
          <a:ln w="9525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rIns="256032" tIns="146304" bIns="91440"/>
          <a:lstStyle/>
          <a:p>
            <a:pPr algn="ctr"/>
            <a:r>
              <a:rPr sz="1500" b="1" i="0">
                <a:solidFill>
                  <a:srgbClr val="595959"/>
                </a:solidFill>
                <a:latin typeface="Arial"/>
              </a:rPr>
              <a:t>Challenge 1</a:t>
            </a:r>
          </a:p>
          <a:p>
            <a:pPr>
              <a:spcBef>
                <a:spcPts val="400"/>
              </a:spcBef>
            </a:pPr>
            <a:r>
              <a:rPr sz="2200" b="0" i="0">
                <a:solidFill>
                  <a:srgbClr val="000000"/>
                </a:solidFill>
                <a:latin typeface="Arial"/>
              </a:rPr>
              <a:t>Is 49 a square number, a triangular number, both, or neither? Explain how you know.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4114800"/>
            <a:ext cx="11277295" cy="1920240"/>
          </a:xfrm>
          <a:prstGeom prst="roundRect">
            <a:avLst/>
          </a:prstGeom>
          <a:solidFill>
            <a:srgbClr val="F2F2F2"/>
          </a:solidFill>
          <a:ln w="9525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rIns="256032" tIns="146304" bIns="91440"/>
          <a:lstStyle/>
          <a:p>
            <a:pPr algn="ctr"/>
            <a:r>
              <a:rPr sz="1500" b="1" i="0">
                <a:solidFill>
                  <a:srgbClr val="595959"/>
                </a:solidFill>
                <a:latin typeface="Arial"/>
              </a:rPr>
              <a:t>Challenge 2</a:t>
            </a:r>
          </a:p>
          <a:p>
            <a:pPr>
              <a:spcBef>
                <a:spcPts val="400"/>
              </a:spcBef>
            </a:pPr>
            <a:r>
              <a:rPr sz="2200" b="0" i="0">
                <a:solidFill>
                  <a:srgbClr val="000000"/>
                </a:solidFill>
                <a:latin typeface="Arial"/>
              </a:rPr>
              <a:t>The sum of two consecutive triangular numbers is always a square number (e.g. 3+6=9=3², 6+10=16=4²). Check the next pair, 10+15, and predict the pair after that before checking.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46520"/>
            <a:ext cx="1127729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100" b="0" i="0">
                <a:solidFill>
                  <a:srgbClr val="595959"/>
                </a:solidFill>
                <a:latin typeface="Arial"/>
              </a:rPr>
              <a:t>Y8 Sequences — Middle Set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1" i="0">
                <a:solidFill>
                  <a:srgbClr val="595959"/>
                </a:solidFill>
                <a:latin typeface="Arial"/>
              </a:rPr>
              <a:t>PLENARY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19695" y="256032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800"/>
              </a:spcAft>
            </a:pPr>
            <a:r>
              <a:rPr sz="1300" b="0" i="0">
                <a:solidFill>
                  <a:srgbClr val="595959"/>
                </a:solidFill>
                <a:latin typeface="Arial"/>
              </a:rPr>
              <a:t>Y8 SEQUENCES · L3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772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3400" b="1" i="0">
                <a:solidFill>
                  <a:srgbClr val="000000"/>
                </a:solidFill>
                <a:latin typeface="Arial"/>
              </a:rPr>
              <a:t>Special Sequence Sort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45920"/>
            <a:ext cx="11277295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200" b="0" i="0">
                <a:solidFill>
                  <a:srgbClr val="000000"/>
                </a:solidFill>
                <a:latin typeface="Arial"/>
              </a:rPr>
              <a:t>-  The teacher calls out a number. On your whiteboard, write S (square), C (cube), T (triangular) or N (none).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200" b="0" i="0">
                <a:solidFill>
                  <a:srgbClr val="000000"/>
                </a:solidFill>
                <a:latin typeface="Arial"/>
              </a:rPr>
              <a:t>-  Hold your whiteboard up together on “show me” — no thinking time after that!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200" b="0" i="0">
                <a:solidFill>
                  <a:srgbClr val="000000"/>
                </a:solidFill>
                <a:latin typeface="Arial"/>
              </a:rPr>
              <a:t>-  Some numbers belong to more than one group — write all that apply.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4937760"/>
            <a:ext cx="11277295" cy="1097280"/>
          </a:xfrm>
          <a:prstGeom prst="roundRect">
            <a:avLst/>
          </a:prstGeom>
          <a:solidFill>
            <a:srgbClr val="F2F2F2"/>
          </a:solidFill>
          <a:ln w="9525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/>
          <a:lstStyle/>
          <a:p>
            <a:pPr algn="ctr"/>
            <a:r>
              <a:rPr sz="2200" b="1" i="0">
                <a:solidFill>
                  <a:srgbClr val="000000"/>
                </a:solidFill>
                <a:latin typeface="Arial"/>
              </a:rPr>
              <a:t>Exit check: Is 36 a square number, a triangular number, both, or neither?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1127729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100" b="0" i="0">
                <a:solidFill>
                  <a:srgbClr val="595959"/>
                </a:solidFill>
                <a:latin typeface="Arial"/>
              </a:rPr>
              <a:t>Y8 Sequences — Middle Set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