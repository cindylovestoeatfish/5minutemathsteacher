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RETRIEVAL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L6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1">
                <a:solidFill>
                  <a:srgbClr val="595959"/>
                </a:solidFill>
                <a:latin typeface="Arial"/>
              </a:rPr>
              <a:t>Answer on paper or mini-whiteboards. No calculators.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1508760"/>
            <a:ext cx="31391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595959"/>
                </a:solidFill>
                <a:latin typeface="Arial"/>
              </a:rPr>
              <a:t>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1.  Solve: 2x + 5 =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1965960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x =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79192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2.  Solve: x ÷ 4 + 1 =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2679192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x = 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92424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3.  -4 × 3 =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3392424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-12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05656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4.  -18 ÷ -3 =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4105656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18888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5.  -7 + -5 = 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4818888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-12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Solving Linear Equations — Lower-to-Middle 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WEEK 2 · LESSON 2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L6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595959"/>
                </a:solidFill>
                <a:latin typeface="Arial"/>
              </a:rPr>
              <a:t>Date: _______________________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800" b="1" i="0">
                <a:solidFill>
                  <a:srgbClr val="000000"/>
                </a:solidFill>
                <a:latin typeface="Arial"/>
              </a:rPr>
              <a:t>Two-Step Equations With Negative Solutions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88920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000000"/>
                </a:solidFill>
                <a:latin typeface="Arial"/>
              </a:rPr>
              <a:t>Learning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46120"/>
            <a:ext cx="69494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Solve two-step equations where the solution is negative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Solve two-step equations where the coefficient of x is negative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Build confidence working with negative numbers in equations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78892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000000"/>
                </a:solidFill>
                <a:latin typeface="Arial"/>
              </a:rPr>
              <a:t>Key Words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329184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Negative number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3858768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Coefficient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4425696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Two-step equation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Solving Linear Equations — Lower-to-Middle Set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L6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Going Below Zero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11277295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Sometimes when we solve an equation, x turns out to be negative — and that's perfectly fine!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We just need to be extra careful with our negative number arithmetic at each step.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Today some equations also have a negative number in front of x, like -2x + 5 = 1.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297680"/>
            <a:ext cx="11277295" cy="13716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l"/>
            <a:r>
              <a:rPr sz="2200" b="1" i="0">
                <a:solidFill>
                  <a:srgbClr val="000000"/>
                </a:solidFill>
                <a:latin typeface="Arial"/>
              </a:rPr>
              <a:t>Think, pair, share: If 2x + 10 = 4, do you think x will be positive or negative? Why?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Solving Linear Equations — Lower-to-Middle 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MODELLING: I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L6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I Do — Teacher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1127729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0000"/>
                </a:solidFill>
                <a:latin typeface="Arial"/>
              </a:rPr>
              <a:t>Solve: 2x + 10 =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6040"/>
            <a:ext cx="11277295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100" b="0" i="0">
                <a:solidFill>
                  <a:srgbClr val="000000"/>
                </a:solidFill>
                <a:latin typeface="Arial"/>
              </a:rPr>
              <a:t>-  Undo the +10 first: subtract 10 from both sides → 2x = 4 − 10 = -6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100" b="0" i="0">
                <a:solidFill>
                  <a:srgbClr val="000000"/>
                </a:solidFill>
                <a:latin typeface="Arial"/>
              </a:rPr>
              <a:t>-  Undo the ×2: divide both sides by 2 → x = -3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100" b="0" i="0">
                <a:solidFill>
                  <a:srgbClr val="000000"/>
                </a:solidFill>
                <a:latin typeface="Arial"/>
              </a:rPr>
              <a:t>-  Check: 2 × (-3) + 10 = -6 + 10 = 4 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Solving Linear Equations — Lower-to-Middle Set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MODELLING: WE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L6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We Do — Guided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1127729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0000"/>
                </a:solidFill>
                <a:latin typeface="Arial"/>
              </a:rPr>
              <a:t>Solve: -3x + 4 =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6040"/>
            <a:ext cx="11277295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100" b="0" i="0">
                <a:solidFill>
                  <a:srgbClr val="000000"/>
                </a:solidFill>
                <a:latin typeface="Arial"/>
              </a:rPr>
              <a:t>-  Undo the +4 first: subtract 4 from both sides → -3x = 9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100" b="0" i="0">
                <a:solidFill>
                  <a:srgbClr val="000000"/>
                </a:solidFill>
                <a:latin typeface="Arial"/>
              </a:rPr>
              <a:t>-  Undo the ×(−3): divide both sides by -3 → x = 9 ÷ (-3) = -3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100" b="0" i="0">
                <a:solidFill>
                  <a:srgbClr val="000000"/>
                </a:solidFill>
                <a:latin typeface="Arial"/>
              </a:rPr>
              <a:t>-  Check: -3 × (-3) + 4 = 9 + 4 = 13 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Solving Linear Equations — Lower-to-Middle Set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INDEPENDENT PRACTICE: YOU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L6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You Do — Your Turn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1">
                <a:solidFill>
                  <a:srgbClr val="595959"/>
                </a:solidFill>
                <a:latin typeface="Arial"/>
              </a:rPr>
              <a:t>Answers shown in green.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Q1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000000"/>
                </a:solidFill>
                <a:latin typeface="Arial"/>
              </a:rPr>
              <a:t>3x + 8 = 2</a:t>
            </a:r>
          </a:p>
          <a:p>
            <a:pPr>
              <a:spcBef>
                <a:spcPts val="600"/>
              </a:spcBef>
            </a:pPr>
            <a:r>
              <a:rPr sz="1600" b="1" i="0">
                <a:solidFill>
                  <a:srgbClr val="2B6B3D"/>
                </a:solidFill>
                <a:latin typeface="Arial"/>
              </a:rPr>
              <a:t>Answer: x = -2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727" y="1874519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Q2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000000"/>
                </a:solidFill>
                <a:latin typeface="Arial"/>
              </a:rPr>
              <a:t>4x − 5 = -17</a:t>
            </a:r>
          </a:p>
          <a:p>
            <a:pPr>
              <a:spcBef>
                <a:spcPts val="600"/>
              </a:spcBef>
            </a:pPr>
            <a:r>
              <a:rPr sz="1600" b="1" i="0">
                <a:solidFill>
                  <a:srgbClr val="2B6B3D"/>
                </a:solidFill>
                <a:latin typeface="Arial"/>
              </a:rPr>
              <a:t>Answer: x = -3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160520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Q3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000000"/>
                </a:solidFill>
                <a:latin typeface="Arial"/>
              </a:rPr>
              <a:t>-2x + 6 = 12</a:t>
            </a:r>
          </a:p>
          <a:p>
            <a:pPr>
              <a:spcBef>
                <a:spcPts val="600"/>
              </a:spcBef>
            </a:pPr>
            <a:r>
              <a:rPr sz="1600" b="1" i="0">
                <a:solidFill>
                  <a:srgbClr val="2B6B3D"/>
                </a:solidFill>
                <a:latin typeface="Arial"/>
              </a:rPr>
              <a:t>Answer: x = -3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4160520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Q4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000000"/>
                </a:solidFill>
                <a:latin typeface="Arial"/>
              </a:rPr>
              <a:t>5x + 9 = -6</a:t>
            </a:r>
          </a:p>
          <a:p>
            <a:pPr>
              <a:spcBef>
                <a:spcPts val="600"/>
              </a:spcBef>
            </a:pPr>
            <a:r>
              <a:rPr sz="1600" b="1" i="0">
                <a:solidFill>
                  <a:srgbClr val="2B6B3D"/>
                </a:solidFill>
                <a:latin typeface="Arial"/>
              </a:rPr>
              <a:t>Answer: x = -3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Extension: finish early? Move on to the Challenge slide.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CHALLENGE / EXTENSION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L6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1">
                <a:solidFill>
                  <a:srgbClr val="595959"/>
                </a:solidFill>
                <a:latin typeface="Arial"/>
              </a:rPr>
              <a:t>For students who are ready to go further. Answers shown in green.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65960"/>
            <a:ext cx="11277295" cy="20574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28016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Challenge 1</a:t>
            </a:r>
          </a:p>
          <a:p>
            <a:pPr>
              <a:spcBef>
                <a:spcPts val="400"/>
              </a:spcBef>
            </a:pPr>
            <a:r>
              <a:rPr sz="1900" b="0" i="0">
                <a:solidFill>
                  <a:srgbClr val="000000"/>
                </a:solidFill>
                <a:latin typeface="Arial"/>
              </a:rPr>
              <a:t>-4x + 7 = 23</a:t>
            </a:r>
          </a:p>
          <a:p>
            <a:pPr>
              <a:spcBef>
                <a:spcPts val="600"/>
              </a:spcBef>
            </a:pPr>
            <a:r>
              <a:rPr sz="1600" b="1" i="0">
                <a:solidFill>
                  <a:srgbClr val="2B6B3D"/>
                </a:solidFill>
                <a:latin typeface="Arial"/>
              </a:rPr>
              <a:t>Answer: x = -4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206240"/>
            <a:ext cx="11277295" cy="20574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28016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Challenge 2</a:t>
            </a:r>
          </a:p>
          <a:p>
            <a:pPr>
              <a:spcBef>
                <a:spcPts val="400"/>
              </a:spcBef>
            </a:pPr>
            <a:r>
              <a:rPr sz="1900" b="0" i="0">
                <a:solidFill>
                  <a:srgbClr val="000000"/>
                </a:solidFill>
                <a:latin typeface="Arial"/>
              </a:rPr>
              <a:t>-3x − 5 = 10</a:t>
            </a:r>
          </a:p>
          <a:p>
            <a:pPr>
              <a:spcBef>
                <a:spcPts val="600"/>
              </a:spcBef>
            </a:pPr>
            <a:r>
              <a:rPr sz="1600" b="1" i="0">
                <a:solidFill>
                  <a:srgbClr val="2B6B3D"/>
                </a:solidFill>
                <a:latin typeface="Arial"/>
              </a:rPr>
              <a:t>Answer: x = -5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Solving Linear Equations — Lower-to-Middle Set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PLENARY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L6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800" b="1" i="0">
                <a:solidFill>
                  <a:srgbClr val="000000"/>
                </a:solidFill>
                <a:latin typeface="Arial"/>
              </a:rPr>
              <a:t>Sign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595959"/>
                </a:solidFill>
                <a:latin typeface="Arial"/>
              </a:rPr>
              <a:t>Students hold up a '+' or '−' card to predict the sign of x, then solve on whiteboards to check.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74519"/>
            <a:ext cx="5455767" cy="971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1. 3x + 7 = 1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x = -2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46069"/>
            <a:ext cx="5455767" cy="971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2. -2x + 9 = 13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x = -2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817619"/>
            <a:ext cx="5455767" cy="971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3. 5x − 4 = 21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x =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89169"/>
            <a:ext cx="5455767" cy="971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4. -4x + 3 = 19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x = -4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8727" y="1874519"/>
            <a:ext cx="5455767" cy="971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5. 6x + 15 = 3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x = -2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8727" y="2846069"/>
            <a:ext cx="5455767" cy="971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6. -3x − 2 = 13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x = -5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8727" y="3817619"/>
            <a:ext cx="5455767" cy="971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7. 4x − 9 = 15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x = 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78727" y="4789169"/>
            <a:ext cx="5455767" cy="971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8. -5x + 8 = 28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x = -4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897880"/>
            <a:ext cx="11277295" cy="54864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/>
            <a:r>
              <a:rPr sz="1600" b="1" i="0">
                <a:solidFill>
                  <a:srgbClr val="000000"/>
                </a:solidFill>
                <a:latin typeface="Arial"/>
              </a:rPr>
              <a:t>Exit check: Solve -2x + 9 = 15 and check your answer.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Solving Linear Equations — Lower-to-Middle Set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