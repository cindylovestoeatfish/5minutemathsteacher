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RETRIEVAL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Y8 SEQUENCES · L12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000000"/>
                </a:solidFill>
                <a:latin typeface="Arial"/>
              </a:rPr>
              <a:t>Retrieval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2772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 i="1">
                <a:solidFill>
                  <a:srgbClr val="595959"/>
                </a:solidFill>
                <a:latin typeface="Arial"/>
              </a:rPr>
              <a:t>Answer on paper or mini-whiteboards. No calculators.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1508760"/>
            <a:ext cx="31391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595959"/>
                </a:solidFill>
                <a:latin typeface="Arial"/>
              </a:rPr>
              <a:t>Answers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65960"/>
            <a:ext cx="786384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1.  9 x 7 =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0" y="1965960"/>
            <a:ext cx="3139135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0" i="0">
                <a:solidFill>
                  <a:srgbClr val="595959"/>
                </a:solidFill>
                <a:latin typeface="Arial"/>
              </a:rPr>
              <a:t>63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79192"/>
            <a:ext cx="786384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2.  -8 + -5 =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0" y="2679192"/>
            <a:ext cx="3139135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0" i="0">
                <a:solidFill>
                  <a:srgbClr val="595959"/>
                </a:solidFill>
                <a:latin typeface="Arial"/>
              </a:rPr>
              <a:t>-13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392424"/>
            <a:ext cx="786384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3.  6 + 2 x (9 - 4) =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0" y="3392424"/>
            <a:ext cx="3139135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0" i="0">
                <a:solidFill>
                  <a:srgbClr val="595959"/>
                </a:solidFill>
                <a:latin typeface="Arial"/>
              </a:rPr>
              <a:t>16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105656"/>
            <a:ext cx="786384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4.  Find the nth term of 5, 9, 13, 17.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0" y="4105656"/>
            <a:ext cx="3139135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0" i="0">
                <a:solidFill>
                  <a:srgbClr val="595959"/>
                </a:solidFill>
                <a:latin typeface="Arial"/>
              </a:rPr>
              <a:t>4n + 1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818888"/>
            <a:ext cx="786384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5.  nth term = 5n + 6. Is 61 in the sequence?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4818888"/>
            <a:ext cx="3139135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0" i="0">
                <a:solidFill>
                  <a:srgbClr val="595959"/>
                </a:solidFill>
                <a:latin typeface="Arial"/>
              </a:rPr>
              <a:t>Yes, n = 11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Y8 Sequences — Middle Set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WEEK 3 · LESSON 4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Y8 SEQUENCES · L12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7772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 i="0">
                <a:solidFill>
                  <a:srgbClr val="595959"/>
                </a:solidFill>
                <a:latin typeface="Arial"/>
              </a:rPr>
              <a:t>Date: _______________________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27729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4000" b="1" i="0">
                <a:solidFill>
                  <a:srgbClr val="000000"/>
                </a:solidFill>
                <a:latin typeface="Arial"/>
              </a:rPr>
              <a:t>Sequences: Unit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88920"/>
            <a:ext cx="6949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1" i="0">
                <a:solidFill>
                  <a:srgbClr val="000000"/>
                </a:solidFill>
                <a:latin typeface="Arial"/>
              </a:rPr>
              <a:t>Learning Objectives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46120"/>
            <a:ext cx="694944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-  I can apply all the sequence skills from this unit to solve mixed problems.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-  I can identify which method (term-to-term, nth term, quadratic) fits a given problem.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2788920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1" i="0">
                <a:solidFill>
                  <a:srgbClr val="000000"/>
                </a:solidFill>
                <a:latin typeface="Arial"/>
              </a:rPr>
              <a:t>Key Words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3291840"/>
            <a:ext cx="3291840" cy="438912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8288" bIns="18288"/>
          <a:lstStyle/>
          <a:p>
            <a:pPr algn="ctr"/>
            <a:r>
              <a:rPr sz="1500" b="1" i="0">
                <a:solidFill>
                  <a:srgbClr val="000000"/>
                </a:solidFill>
                <a:latin typeface="Arial"/>
              </a:rPr>
              <a:t>Review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3858768"/>
            <a:ext cx="3291840" cy="438912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8288" bIns="18288"/>
          <a:lstStyle/>
          <a:p>
            <a:pPr algn="ctr"/>
            <a:r>
              <a:rPr sz="1500" b="1" i="0">
                <a:solidFill>
                  <a:srgbClr val="000000"/>
                </a:solidFill>
                <a:latin typeface="Arial"/>
              </a:rPr>
              <a:t>Term-to-term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4425696"/>
            <a:ext cx="3291840" cy="438912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8288" bIns="18288"/>
          <a:lstStyle/>
          <a:p>
            <a:pPr algn="ctr"/>
            <a:r>
              <a:rPr sz="1500" b="1" i="0">
                <a:solidFill>
                  <a:srgbClr val="000000"/>
                </a:solidFill>
                <a:latin typeface="Arial"/>
              </a:rPr>
              <a:t>nth term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4992624"/>
            <a:ext cx="3291840" cy="438912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8288" bIns="18288"/>
          <a:lstStyle/>
          <a:p>
            <a:pPr algn="ctr"/>
            <a:r>
              <a:rPr sz="1500" b="1" i="0">
                <a:solidFill>
                  <a:srgbClr val="000000"/>
                </a:solidFill>
                <a:latin typeface="Arial"/>
              </a:rPr>
              <a:t>Quadratic sequence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Y8 Sequences — Middle Set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Y8 SEQUENCES · L12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000000"/>
                </a:solidFill>
                <a:latin typeface="Arial"/>
              </a:rPr>
              <a:t>Sequence Experts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91640"/>
            <a:ext cx="11277295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Over the last three weeks you have gone from simple patterns to quadratic sequences.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Today: prove what you know across the whole unit.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4297680"/>
            <a:ext cx="11277295" cy="137160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l"/>
            <a:r>
              <a:rPr sz="2200" b="1" i="0">
                <a:solidFill>
                  <a:srgbClr val="000000"/>
                </a:solidFill>
                <a:latin typeface="Arial"/>
              </a:rPr>
              <a:t>Think, pair, share: Which sequence skill from this unit do you feel most confident with, and which needs more practice?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Y8 Sequences — Middle Set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MODELLING: I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Y8 SEQUENCES · L12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000000"/>
                </a:solidFill>
                <a:latin typeface="Arial"/>
              </a:rPr>
              <a:t>I Do — Teacher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772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400" b="1" i="0">
                <a:solidFill>
                  <a:srgbClr val="000000"/>
                </a:solidFill>
                <a:latin typeface="Arial"/>
              </a:rPr>
              <a:t>Sequence 8, 13, 18, 23, ... Find the nth term, the 30th term, and check if 100 is in the sequence.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94560"/>
            <a:ext cx="11277295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-  nth term: difference=5, constant=8-5=3, so nth term = 5n + 3.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-  30th term: 5(30)+3 = 153.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-  Is 100 in it? 5n+3=100 gives n=19.4, not a whole number — so no.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Y8 Sequences — Middle Set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MODELLING: WE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Y8 SEQUENCES · L12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000000"/>
                </a:solidFill>
                <a:latin typeface="Arial"/>
              </a:rPr>
              <a:t>We Do — Guided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772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400" b="1" i="0">
                <a:solidFill>
                  <a:srgbClr val="000000"/>
                </a:solidFill>
                <a:latin typeface="Arial"/>
              </a:rPr>
              <a:t>Sequence 40, 33, 26, 19, ... Find the nth term, the 12th term, and describe the sequence.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94560"/>
            <a:ext cx="11277295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-  nth term: difference=___, constant=40+7=___, so nth term = ___ - ___n.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-  12th term: 47 - 7(12) = ___.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-  Is it ascending or descending, and why?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-  Answer: nth term = 47 - 7n. 12th term = -37. Descending, because the difference is negative.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Y8 Sequences — Middle Set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INDEPENDENT PRACTICE: YOU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Y8 SEQUENCES · L12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000000"/>
                </a:solidFill>
                <a:latin typeface="Arial"/>
              </a:rPr>
              <a:t>You Do — Your Turn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772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 i="1">
                <a:solidFill>
                  <a:srgbClr val="595959"/>
                </a:solidFill>
                <a:latin typeface="Arial"/>
              </a:rPr>
              <a:t>Question 1 is scaffolded to get you started.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74519"/>
            <a:ext cx="5455767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28016" bIns="91440"/>
          <a:lstStyle/>
          <a:p>
            <a:pPr algn="ctr"/>
            <a:r>
              <a:rPr sz="1600" b="1" i="0">
                <a:solidFill>
                  <a:srgbClr val="595959"/>
                </a:solidFill>
                <a:latin typeface="Arial"/>
              </a:rPr>
              <a:t>Q1  (scaffold)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000000"/>
                </a:solidFill>
                <a:latin typeface="Arial"/>
              </a:rPr>
              <a:t>Sequence 2, 9, 16, 23. Find the term-to-term rule, the nth term, and the 20th term.</a:t>
            </a:r>
          </a:p>
          <a:p>
            <a:pPr>
              <a:spcBef>
                <a:spcPts val="600"/>
              </a:spcBef>
            </a:pPr>
            <a:r>
              <a:rPr sz="1600" b="0" i="1">
                <a:solidFill>
                  <a:srgbClr val="595959"/>
                </a:solidFill>
                <a:latin typeface="Arial"/>
              </a:rPr>
              <a:t>Rule = ___. nth term = ___n - ___. 20th term = ___.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78727" y="1874519"/>
            <a:ext cx="5455767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28016" bIns="91440"/>
          <a:lstStyle/>
          <a:p>
            <a:pPr algn="ctr"/>
            <a:r>
              <a:rPr sz="1600" b="1" i="0">
                <a:solidFill>
                  <a:srgbClr val="595959"/>
                </a:solidFill>
                <a:latin typeface="Arial"/>
              </a:rPr>
              <a:t>Q2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000000"/>
                </a:solidFill>
                <a:latin typeface="Arial"/>
              </a:rPr>
              <a:t>Sequence 3, 7, 12, 18, 25 (quadratic). Find the first and second differences and the coefficient of n².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160520"/>
            <a:ext cx="5455767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28016" bIns="91440"/>
          <a:lstStyle/>
          <a:p>
            <a:pPr algn="ctr"/>
            <a:r>
              <a:rPr sz="1600" b="1" i="0">
                <a:solidFill>
                  <a:srgbClr val="595959"/>
                </a:solidFill>
                <a:latin typeface="Arial"/>
              </a:rPr>
              <a:t>Q3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000000"/>
                </a:solidFill>
                <a:latin typeface="Arial"/>
              </a:rPr>
              <a:t>nth term = 9n - 6. Find the 15th term and check whether 300 is in the sequence.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4160520"/>
            <a:ext cx="5455767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28016" bIns="91440"/>
          <a:lstStyle/>
          <a:p>
            <a:pPr algn="ctr"/>
            <a:r>
              <a:rPr sz="1600" b="1" i="0">
                <a:solidFill>
                  <a:srgbClr val="595959"/>
                </a:solidFill>
                <a:latin typeface="Arial"/>
              </a:rPr>
              <a:t>Q4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000000"/>
                </a:solidFill>
                <a:latin typeface="Arial"/>
              </a:rPr>
              <a:t>A gym costs £25 to join plus £18 per month. Find the nth term for total cost, the cost after 18 months, and how many months £493 buys.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Extension: finish early? Move on to the Challenge slide.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CHALLENGE / EXTENSION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Y8 SEQUENCES · L12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000000"/>
                </a:solidFill>
                <a:latin typeface="Arial"/>
              </a:rPr>
              <a:t>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2772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 i="1">
                <a:solidFill>
                  <a:srgbClr val="595959"/>
                </a:solidFill>
                <a:latin typeface="Arial"/>
              </a:rPr>
              <a:t>For students who are ready to go further.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965960"/>
            <a:ext cx="11277295" cy="192024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146304" bIns="91440"/>
          <a:lstStyle/>
          <a:p>
            <a:pPr algn="ctr"/>
            <a:r>
              <a:rPr sz="1500" b="1" i="0">
                <a:solidFill>
                  <a:srgbClr val="595959"/>
                </a:solidFill>
                <a:latin typeface="Arial"/>
              </a:rPr>
              <a:t>Challenge 1</a:t>
            </a:r>
          </a:p>
          <a:p>
            <a:pPr>
              <a:spcBef>
                <a:spcPts val="400"/>
              </a:spcBef>
            </a:pPr>
            <a:r>
              <a:rPr sz="2200" b="0" i="0">
                <a:solidFill>
                  <a:srgbClr val="000000"/>
                </a:solidFill>
                <a:latin typeface="Arial"/>
              </a:rPr>
              <a:t>Sequence A has nth term n² + 1. Sequence B has nth term 4n - 2. Find the value(s) of n where both sequences give the same term value.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114800"/>
            <a:ext cx="11277295" cy="192024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146304" bIns="91440"/>
          <a:lstStyle/>
          <a:p>
            <a:pPr algn="ctr"/>
            <a:r>
              <a:rPr sz="1500" b="1" i="0">
                <a:solidFill>
                  <a:srgbClr val="595959"/>
                </a:solidFill>
                <a:latin typeface="Arial"/>
              </a:rPr>
              <a:t>Challenge 2</a:t>
            </a:r>
          </a:p>
          <a:p>
            <a:pPr>
              <a:spcBef>
                <a:spcPts val="400"/>
              </a:spcBef>
            </a:pPr>
            <a:r>
              <a:rPr sz="2200" b="0" i="0">
                <a:solidFill>
                  <a:srgbClr val="000000"/>
                </a:solidFill>
                <a:latin typeface="Arial"/>
              </a:rPr>
              <a:t>Design a real-life scenario that matches the nth term rule 12n + 40. Explain what the 40 and the 12 represent in your scenario.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Y8 Sequences — Middle Set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PLENARY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Y8 SEQUENCES · L12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12772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800" b="1" i="0">
                <a:solidFill>
                  <a:srgbClr val="000000"/>
                </a:solidFill>
                <a:latin typeface="Arial"/>
              </a:rPr>
              <a:t>Sequences Quiz Show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70432"/>
            <a:ext cx="1127729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1">
                <a:solidFill>
                  <a:srgbClr val="595959"/>
                </a:solidFill>
                <a:latin typeface="Arial"/>
              </a:rPr>
              <a:t>Whole-class team quiz covering the whole unit. Teams buzz in or hold up whiteboards — fastest correct answer scores.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74519"/>
            <a:ext cx="5455767" cy="1295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1. Find the term-to-term rule: 6, 13, 20, 27   </a:t>
            </a:r>
            <a:r>
              <a:rPr sz="1500" b="1" i="0">
                <a:solidFill>
                  <a:srgbClr val="2B6B3D"/>
                </a:solidFill>
                <a:latin typeface="Arial"/>
              </a:rPr>
              <a:t>+7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169919"/>
            <a:ext cx="5455767" cy="1295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2. Find the nth term: 4, 7, 10, 13   </a:t>
            </a:r>
            <a:r>
              <a:rPr sz="1500" b="1" i="0">
                <a:solidFill>
                  <a:srgbClr val="2B6B3D"/>
                </a:solidFill>
                <a:latin typeface="Arial"/>
              </a:rPr>
              <a:t>3n + 1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465319"/>
            <a:ext cx="5455767" cy="1295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3. Is 45 a triangular number?   </a:t>
            </a:r>
            <a:r>
              <a:rPr sz="1500" b="1" i="0">
                <a:solidFill>
                  <a:srgbClr val="2B6B3D"/>
                </a:solidFill>
                <a:latin typeface="Arial"/>
              </a:rPr>
              <a:t>Yes (T9 = 45)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78727" y="1874519"/>
            <a:ext cx="5455767" cy="1295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4. nth term 5n − 2: find the 10th term   </a:t>
            </a:r>
            <a:r>
              <a:rPr sz="1500" b="1" i="0">
                <a:solidFill>
                  <a:srgbClr val="2B6B3D"/>
                </a:solidFill>
                <a:latin typeface="Arial"/>
              </a:rPr>
              <a:t>48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78727" y="3169919"/>
            <a:ext cx="5455767" cy="1295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5. nth term 6n + 1: is 43 in the sequence?   </a:t>
            </a:r>
            <a:r>
              <a:rPr sz="1500" b="1" i="0">
                <a:solidFill>
                  <a:srgbClr val="2B6B3D"/>
                </a:solidFill>
                <a:latin typeface="Arial"/>
              </a:rPr>
              <a:t>Yes (n = 7)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78727" y="4465319"/>
            <a:ext cx="5455767" cy="1295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6. 1, 4, 9, 16 — linear or quadratic?   </a:t>
            </a:r>
            <a:r>
              <a:rPr sz="1500" b="1" i="0">
                <a:solidFill>
                  <a:srgbClr val="2B6B3D"/>
                </a:solidFill>
                <a:latin typeface="Arial"/>
              </a:rPr>
              <a:t>Quadratic (2nd difference = 2)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897880"/>
            <a:ext cx="11277295" cy="54864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ctr"/>
            <a:r>
              <a:rPr sz="1600" b="1" i="0">
                <a:solidFill>
                  <a:srgbClr val="000000"/>
                </a:solidFill>
                <a:latin typeface="Arial"/>
              </a:rPr>
              <a:t>Exit check: Traffic light check: rate yourself green/amber/red on term-to-term rules, nth term, and quadratic sequences.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Y8 Sequences — Middle Set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