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11 x 11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-6 x -7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8 - 2 x (5 - 3)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equation of a line through (0, 2) and (1, 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y = 4x + 2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State the gradient of y = -5x + 9.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000000"/>
                </a:solidFill>
                <a:latin typeface="Arial"/>
              </a:rPr>
              <a:t>Parallel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recognise that parallel lines have the same gradient.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the equation of a line parallel to a given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Parallel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y-intercept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Lines That Never Meet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Railway tracks run side by side and never meet — they are parallel.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What would need to be true about their equations for this to happen mathematically?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If two lines never cross, what do you think must be true about their gradients?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Are y = 2x + 1 and y = 2x - 4 parallel?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Compare the gradients. Line A: m = 2. Line B: m = 2.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The gradients are equal, so the lines are equally steep.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The y-intercepts are different (1 and -4), so the lines never meet.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yes, the lines are parallel.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720089"/>
            <a:ext cx="3977639" cy="7955277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863840" y="937261"/>
            <a:ext cx="3977639" cy="7955277"/>
          </a:xfrm>
          <a:prstGeom prst="line">
            <a:avLst/>
          </a:prstGeom>
          <a:ln w="31750">
            <a:solidFill>
              <a:srgbClr val="C16E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806939" y="3211829"/>
            <a:ext cx="91440" cy="91440"/>
          </a:xfrm>
          <a:prstGeom prst="ellipse">
            <a:avLst/>
          </a:prstGeom>
          <a:solidFill>
            <a:srgbClr val="1F3C8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2387" y="300151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F3C88"/>
                </a:solidFill>
                <a:latin typeface="Arial"/>
              </a:rPr>
              <a:t>y=2x+1</a:t>
            </a:r>
          </a:p>
        </p:txBody>
      </p:sp>
      <p:sp>
        <p:nvSpPr>
          <p:cNvPr id="53" name="Oval 52"/>
          <p:cNvSpPr/>
          <p:nvPr/>
        </p:nvSpPr>
        <p:spPr>
          <a:xfrm>
            <a:off x="9806939" y="4869179"/>
            <a:ext cx="91440" cy="91440"/>
          </a:xfrm>
          <a:prstGeom prst="ellipse">
            <a:avLst/>
          </a:prstGeom>
          <a:solidFill>
            <a:srgbClr val="C16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2387" y="465886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C16E1F"/>
                </a:solidFill>
                <a:latin typeface="Arial"/>
              </a:rPr>
              <a:t>y=2x-4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72237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00000"/>
                </a:solidFill>
                <a:latin typeface="Arial"/>
              </a:rPr>
              <a:t>Is y = 3x + 5 parallel to y = 3x - 2?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7223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1: Compare the gradients: m = ___ and m =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2: Are they equal?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Step 3: Are the y-intercepts different? ___.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-  Answer: yes, both gradients are 3, so the lines are parallel.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7863840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81953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85267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885824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18971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52118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018412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1559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84706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117853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151000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841479" y="1600200"/>
            <a:ext cx="0" cy="3977639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63840" y="55778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63840" y="52463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491489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863840" y="458342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63840" y="425195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863840" y="392048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863840" y="325754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863840" y="292607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863840" y="259460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63840" y="226313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31669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63840" y="1600200"/>
            <a:ext cx="3977639" cy="0"/>
          </a:xfrm>
          <a:prstGeom prst="line">
            <a:avLst/>
          </a:prstGeom>
          <a:ln w="635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63840" y="3589019"/>
            <a:ext cx="39776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852659" y="1600200"/>
            <a:ext cx="0" cy="397763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5400000">
            <a:off x="11823191" y="3543299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9806939" y="1581912"/>
            <a:ext cx="91440" cy="91440"/>
          </a:xfrm>
          <a:prstGeom prst="triangl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95759" y="3643883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5811" y="1581912"/>
            <a:ext cx="2743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0000"/>
                </a:solidFill>
                <a:latin typeface="Arial"/>
              </a:rP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56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737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40311" y="3625595"/>
            <a:ext cx="40233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5187" y="54863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5187" y="482345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5187" y="416051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5187" y="283463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5187" y="2171699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5187" y="1508760"/>
            <a:ext cx="292608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7863840" y="-4034788"/>
            <a:ext cx="3977639" cy="11932916"/>
          </a:xfrm>
          <a:prstGeom prst="line">
            <a:avLst/>
          </a:prstGeom>
          <a:ln w="31750">
            <a:solidFill>
              <a:srgbClr val="1F3C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7863840" y="-1714499"/>
            <a:ext cx="3977639" cy="11932916"/>
          </a:xfrm>
          <a:prstGeom prst="line">
            <a:avLst/>
          </a:prstGeom>
          <a:ln w="31750">
            <a:solidFill>
              <a:srgbClr val="C16E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9806939" y="1885949"/>
            <a:ext cx="91440" cy="91440"/>
          </a:xfrm>
          <a:prstGeom prst="ellipse">
            <a:avLst/>
          </a:prstGeom>
          <a:solidFill>
            <a:srgbClr val="1F3C8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62387" y="167563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F3C88"/>
                </a:solidFill>
                <a:latin typeface="Arial"/>
              </a:rPr>
              <a:t>y=3x+5</a:t>
            </a:r>
          </a:p>
        </p:txBody>
      </p:sp>
      <p:sp>
        <p:nvSpPr>
          <p:cNvPr id="53" name="Oval 52"/>
          <p:cNvSpPr/>
          <p:nvPr/>
        </p:nvSpPr>
        <p:spPr>
          <a:xfrm>
            <a:off x="9806939" y="4206239"/>
            <a:ext cx="91440" cy="91440"/>
          </a:xfrm>
          <a:prstGeom prst="ellipse">
            <a:avLst/>
          </a:prstGeom>
          <a:solidFill>
            <a:srgbClr val="C16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62387" y="3995927"/>
            <a:ext cx="118872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C16E1F"/>
                </a:solidFill>
                <a:latin typeface="Arial"/>
              </a:rPr>
              <a:t>y=3x-2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Is y = 4x + 1 parallel to y = 4x - 6?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Yes — both have gradient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Is y = 2x + 3 parallel to y = 3x + 3?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No — gradients differ (2 and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Write the equation of a line parallel to y = 5x - 2 that passes through (0, 7).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 = 5x + 7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300"/>
              </a:spcBef>
            </a:pPr>
            <a:r>
              <a:rPr sz="1800" b="1" i="0">
                <a:solidFill>
                  <a:srgbClr val="000000"/>
                </a:solidFill>
                <a:latin typeface="Arial"/>
              </a:rPr>
              <a:t>Write the equation of a line parallel to y = -2x + 1 through (0, -3), then give one other point on it.</a:t>
            </a:r>
          </a:p>
          <a:p>
            <a:pPr>
              <a:spcBef>
                <a:spcPts val="500"/>
              </a:spcBef>
            </a:pPr>
            <a:r>
              <a:rPr sz="1500" b="1" i="0">
                <a:solidFill>
                  <a:srgbClr val="2B6B3D"/>
                </a:solidFill>
                <a:latin typeface="Arial"/>
              </a:rPr>
              <a:t>Answer: y = -2x - 3; e.g. at x = 1, y = -5, so (1, -5)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A line is parallel to y = 3x - 1 and passes through (2, 9) — not the y-intercept. Find its equation.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Gradient = 3; 9 = 3(2) + c, so c = 3. Equation: y = 3x + 3.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1277295" cy="205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28016" bIns="73152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000" b="0" i="0">
                <a:solidFill>
                  <a:srgbClr val="000000"/>
                </a:solidFill>
                <a:latin typeface="Arial"/>
              </a:rPr>
              <a:t>Three lines: y = 2x + 1, y = 2x - 3, y = -2x + 1. Which two are parallel, and how do you know?</a:t>
            </a:r>
          </a:p>
          <a:p>
            <a:pPr>
              <a:spcBef>
                <a:spcPts val="600"/>
              </a:spcBef>
            </a:pPr>
            <a:r>
              <a:rPr sz="1700" b="1" i="0">
                <a:solidFill>
                  <a:srgbClr val="2B6B3D"/>
                </a:solidFill>
                <a:latin typeface="Arial"/>
              </a:rPr>
              <a:t>Answer: y = 2x + 1 and y = 2x - 3 are parallel (both gradient 2). The third has gradient -2, so it is not parallel to either.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LINEAR GRAPHS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Parallel or Not?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Show each equation pair. Students hold up 'parallel' or 'not parallel' as fast as they can, then justify.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y = 3x + 2  &amp;  y = 3x − 5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Parallel (both m = 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y = 2x + 1  &amp;  y = -2x + 1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Not parallel (m = 2 vs 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y = 4x − 1  &amp;  y = 4x + 7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Parallel (both m = 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y = x + 6  &amp;  y = 2x + 6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Not parallel (m = 1 vs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y = -5x + 2  &amp;  y = -5x − 2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Parallel (both m = -5)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y = 0.5x + 3  &amp;  y = 5x + 3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Not parallel (m = 0.5 vs 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Write the equation of a line parallel to y = -x + 4 that passes through (0, 0).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Linear Graphs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