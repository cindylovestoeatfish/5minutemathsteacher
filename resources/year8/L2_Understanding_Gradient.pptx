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8 x 9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-12 / -4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3 + 4 x 2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If y = x + 2, find y when x = 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Is the graph of y = 4x steeper or less steep than y = x?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Steeper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Understanding Gradient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calculate the gradient of a straight line from a graph.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explain what the gradient represents in real-life contexts.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Gradient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Steepness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How Steep is Too Steep?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wheelchair ramp must not be too steep, or it becomes unsafe to use.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Gradient is the mathematical way of measuring how steep a line 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How could we measure 'steepness' using numbers, rather than just looking at a 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Find the gradient of the line through (0, 1) and (2, 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Gradient = rise / run (change in y ÷ change in x).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Rise = 5 - 1 = 4. Run = 2 - 0 = 2.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Gradient = 4 / 2 = 2.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gradient = 2.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720089"/>
            <a:ext cx="3977639" cy="7955277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852659" y="3257549"/>
            <a:ext cx="662940" cy="0"/>
          </a:xfrm>
          <a:prstGeom prst="line">
            <a:avLst/>
          </a:prstGeom>
          <a:ln w="19050">
            <a:solidFill>
              <a:srgbClr val="B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515599" y="1931669"/>
            <a:ext cx="0" cy="1325880"/>
          </a:xfrm>
          <a:prstGeom prst="line">
            <a:avLst/>
          </a:prstGeom>
          <a:ln w="19050">
            <a:solidFill>
              <a:srgbClr val="B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726929" y="3312413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03030"/>
                </a:solidFill>
                <a:latin typeface="Arial"/>
              </a:rPr>
              <a:t>run =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70463" y="2494025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B03030"/>
                </a:solidFill>
                <a:latin typeface="Arial"/>
              </a:rPr>
              <a:t>rise = 4</a:t>
            </a:r>
          </a:p>
        </p:txBody>
      </p:sp>
      <p:sp>
        <p:nvSpPr>
          <p:cNvPr id="54" name="Oval 53"/>
          <p:cNvSpPr/>
          <p:nvPr/>
        </p:nvSpPr>
        <p:spPr>
          <a:xfrm>
            <a:off x="9806939" y="321182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62387" y="300151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(0, 1)</a:t>
            </a:r>
          </a:p>
        </p:txBody>
      </p:sp>
      <p:sp>
        <p:nvSpPr>
          <p:cNvPr id="56" name="Oval 55"/>
          <p:cNvSpPr/>
          <p:nvPr/>
        </p:nvSpPr>
        <p:spPr>
          <a:xfrm>
            <a:off x="10469879" y="188594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25327" y="167563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(2, 5)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Find the gradient of the line through (0, -1) and (3, 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Rise = 5 - (-1) =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Run = 3 - 0 =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Gradient = rise / run =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rise = 6, run = 3, gradient = 2.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57149"/>
            <a:ext cx="3977639" cy="7955277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852659" y="3920489"/>
            <a:ext cx="994410" cy="0"/>
          </a:xfrm>
          <a:prstGeom prst="line">
            <a:avLst/>
          </a:prstGeom>
          <a:ln w="19050">
            <a:solidFill>
              <a:srgbClr val="B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847069" y="1931669"/>
            <a:ext cx="0" cy="1988820"/>
          </a:xfrm>
          <a:prstGeom prst="line">
            <a:avLst/>
          </a:prstGeom>
          <a:ln w="19050">
            <a:solidFill>
              <a:srgbClr val="B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892664" y="3975353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B03030"/>
                </a:solidFill>
                <a:latin typeface="Arial"/>
              </a:rPr>
              <a:t>run =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01933" y="2825495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B03030"/>
                </a:solidFill>
                <a:latin typeface="Arial"/>
              </a:rPr>
              <a:t>rise = 6</a:t>
            </a:r>
          </a:p>
        </p:txBody>
      </p:sp>
      <p:sp>
        <p:nvSpPr>
          <p:cNvPr id="54" name="Oval 53"/>
          <p:cNvSpPr/>
          <p:nvPr/>
        </p:nvSpPr>
        <p:spPr>
          <a:xfrm>
            <a:off x="9806939" y="387476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62387" y="366445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(0, -1)</a:t>
            </a:r>
          </a:p>
        </p:txBody>
      </p:sp>
      <p:sp>
        <p:nvSpPr>
          <p:cNvPr id="56" name="Oval 55"/>
          <p:cNvSpPr/>
          <p:nvPr/>
        </p:nvSpPr>
        <p:spPr>
          <a:xfrm>
            <a:off x="10801349" y="188594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56797" y="167563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(3, 5)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Find the gradient of the line through (0, 2) and (4, 10).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Rise = 8, run = 4, gradient =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Find the gradient of the line through (1, 3) and (3, 7).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Rise = 4, run = 2, gradient =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Find the gradient of the line through (0, 5) and (2, 1).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Rise = -4, run = 2, gradient = -2 (descending)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Find the gradient of the line through (-2, -3) and (2, 5).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Rise = 8, run = 4, gradient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A line has gradient 3 and passes through (0, 4). Does it pass through the point (2, 10)? Show your working.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At x = 2: y = 3(2) + 4 = 10. Yes, (2, 10) lies on the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Two ramps have gradients 1/4 and 1/8. Which is steeper, and what does a smaller gradient mean in real life?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1/4 is steeper (a bigger gradient means steeper). A smaller gradient means a gentler, flatter slope.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Steepness Showdown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The teacher shows two lines (or two gradients) at a time.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Vote on mini-whiteboards: which one is steeper?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Bonus round: match each gradient to a real-life ramp, hill or roof — which would be safest to walk up?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A line passes through (0, 0) and (5, 15). What is its gradient?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